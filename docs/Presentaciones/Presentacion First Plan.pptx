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4607"/>
    <a:srgbClr val="EC7320"/>
    <a:srgbClr val="125709"/>
    <a:srgbClr val="FFF4D5"/>
    <a:srgbClr val="FFF2CC"/>
    <a:srgbClr val="F5ECDB"/>
    <a:srgbClr val="F1E3CB"/>
    <a:srgbClr val="E5CDA3"/>
    <a:srgbClr val="D7F7BF"/>
    <a:srgbClr val="D3E8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4C9DD-E757-4D82-A3E2-84E6641CC38A}" type="datetimeFigureOut">
              <a:rPr lang="es-AR" smtClean="0"/>
              <a:t>3/10/2026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42B873-760A-47A1-87F3-9D596AF7A0D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73511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08B46-0D73-7CCB-5572-8669BDE1D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48C2D8D-3AAB-97F4-0A0E-5714B4EF84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4A3769D-A479-0CF0-0031-65C4F5C24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1030D32-2AAF-ECE0-EC77-A1377AA0B3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42B873-760A-47A1-87F3-9D596AF7A0DA}" type="slidenum">
              <a:rPr lang="es-AR" smtClean="0"/>
              <a:t>2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6226876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42B873-760A-47A1-87F3-9D596AF7A0DA}" type="slidenum">
              <a:rPr lang="es-AR" smtClean="0"/>
              <a:t>3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5516224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46BAE-F418-FC85-C574-6511959DB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44613CC-47B7-12E3-4DA3-D7FB1F678B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E7E161C-0729-CAF3-3387-40A2A970CA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B8989B8-C8B0-B512-AC3D-9E1D3FC977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42B873-760A-47A1-87F3-9D596AF7A0DA}" type="slidenum">
              <a:rPr lang="es-AR" smtClean="0"/>
              <a:t>4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8254619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C4AAC-248A-7A67-D55C-5C774DC21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8E1B9DD-7CE5-5676-6E29-300835B802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A62F9CF-9009-A60B-C78A-AF520BB85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E059F79-DDEC-E7F2-497F-C498353689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42B873-760A-47A1-87F3-9D596AF7A0DA}" type="slidenum">
              <a:rPr lang="es-AR" smtClean="0"/>
              <a:t>5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8421777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F1D7A-8291-A8FF-4ACE-A3FF31772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39C7A25-7614-E4E3-1750-340D79B374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BBB8101-B039-2D4E-0F2F-62B80A713A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0A4220-00B7-759B-2B40-F4364FCDE1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42B873-760A-47A1-87F3-9D596AF7A0DA}" type="slidenum">
              <a:rPr lang="es-AR" smtClean="0"/>
              <a:t>6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5096267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B1E60-D7B8-CC16-64BC-363446BB6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E5D3B23-42C6-4792-B4E2-0B5CFD745B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E24F55E-D272-191D-CB9F-6A53397C24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9388327-AADF-13AC-CB43-4E44A48712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42B873-760A-47A1-87F3-9D596AF7A0DA}" type="slidenum">
              <a:rPr lang="es-AR" smtClean="0"/>
              <a:t>7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7831663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F4A75-C04F-2150-2B64-8210C0125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D3CC8CB-603D-ADAD-3830-4B20EDFB23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27284A5-210D-5E82-556A-5E3B1CB9DF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73AF5D-2AD4-3317-1F72-5506CEDFB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42B873-760A-47A1-87F3-9D596AF7A0DA}" type="slidenum">
              <a:rPr lang="es-AR" smtClean="0"/>
              <a:t>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975316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D1F7C-EBE3-097B-054F-B54437422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E49ED0F-3359-1187-AFBA-571DC8C90C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4482C9C-6CF1-3728-A393-85BB5325E9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329896F-5A66-1EF8-DBAB-784276DDFD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42B873-760A-47A1-87F3-9D596AF7A0DA}" type="slidenum">
              <a:rPr lang="es-AR" smtClean="0"/>
              <a:t>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357961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BAA49-6A98-7F53-650B-048F549CF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F0B94BD-82A7-0E5E-2910-D31E94C66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F5E0189-C197-73E5-8CA5-EE9F93ACB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B1EEF2-5619-CCE0-D0A1-8D6E660F2F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42B873-760A-47A1-87F3-9D596AF7A0DA}" type="slidenum">
              <a:rPr lang="es-AR" smtClean="0"/>
              <a:t>10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70651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42801-24CC-C905-46E3-2F434D16C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B2D51FA-077A-81A4-2FC6-2C2CC1D119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179E4C9-7C68-7621-5EE6-4661E1EA08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31A904C-CF62-B22F-0314-0F773EEAD1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42B873-760A-47A1-87F3-9D596AF7A0DA}" type="slidenum">
              <a:rPr lang="es-AR" smtClean="0"/>
              <a:t>11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31989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5186B-40C7-B1E2-E7F8-0E806DF576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26D834-E440-1D21-4697-BD9930E93F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538A9-2593-371A-B017-16CC46A71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868CD-39E9-47B0-8B9D-737FE252D4B5}" type="datetimeFigureOut">
              <a:rPr lang="es-AR" smtClean="0"/>
              <a:t>3/10/2026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AA90D9-6538-5170-F13B-CEC2BD174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E17351-8259-A4B3-F949-4D79A5DD2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C0201-03DA-4A68-8FCC-CFDCAD05403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1310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C9F7D8-0C15-067F-A4DB-B342D1683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1C616C-C14B-F191-ADD4-5A2A74852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4280CB-A698-598C-E5F2-07C7ACB8A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868CD-39E9-47B0-8B9D-737FE252D4B5}" type="datetimeFigureOut">
              <a:rPr lang="es-AR" smtClean="0"/>
              <a:t>3/10/2026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A0B1E9-1D72-8D30-E32A-9957C1484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CF2753-408A-A0BE-95BB-5860914C5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C0201-03DA-4A68-8FCC-CFDCAD05403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83017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682589-F4BB-6F37-D0B3-E1A7895E1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F35F36C-F179-145D-A624-2773031A1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88448A-8D8E-E224-0EF9-71F0F9AFB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868CD-39E9-47B0-8B9D-737FE252D4B5}" type="datetimeFigureOut">
              <a:rPr lang="es-AR" smtClean="0"/>
              <a:t>3/10/2026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63A7E3-3EAB-3EDE-E0E0-7890DD3C4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C77B05-5FB7-B1EA-697F-2AEEF30F5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C0201-03DA-4A68-8FCC-CFDCAD05403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46178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49CF20-D8E4-FC28-2EBA-00D5E17E7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62C2F3-082D-249F-7927-EAD7BBA16F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BAA3B69-0EA0-FA8C-2B15-569EAE7B6D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E96E8C5-3307-BB55-4296-FDA0E8723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868CD-39E9-47B0-8B9D-737FE252D4B5}" type="datetimeFigureOut">
              <a:rPr lang="es-AR" smtClean="0"/>
              <a:t>3/10/2026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8D3870-E090-5E80-1BDC-F86BF43E6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F41AEAC-95CD-02DF-BAF2-D43E0F23C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C0201-03DA-4A68-8FCC-CFDCAD05403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79146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14C07E-AC11-0385-1823-1345C95C3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94F8A5-B857-6AC7-6503-72C567B08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3CA26D3-4EEA-9829-6F1D-B6292F7A06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67805CE-4A0C-77DA-8E58-7FFF04BE94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54DECEE-C321-7238-067D-A0BFF10B1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731B14-C5E5-8CB4-9541-2069EFBE1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868CD-39E9-47B0-8B9D-737FE252D4B5}" type="datetimeFigureOut">
              <a:rPr lang="es-AR" smtClean="0"/>
              <a:t>3/10/2026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9824B53-31FB-1576-6DBA-EF46FFAF6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93B48A2-34AD-A4DA-85C8-FD9B4BD6D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C0201-03DA-4A68-8FCC-CFDCAD05403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2226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C54702-EFF2-4CD6-22F4-24D204F52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B20265-E53F-1BAC-075A-CB2BAB9EF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868CD-39E9-47B0-8B9D-737FE252D4B5}" type="datetimeFigureOut">
              <a:rPr lang="es-AR" smtClean="0"/>
              <a:t>3/10/2026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7033A81-9A19-24BA-CD92-47E5B5703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3A34BE3-1DCF-9712-1097-7793E7538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C0201-03DA-4A68-8FCC-CFDCAD05403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42077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5E64190-E111-28BD-781E-0F15AF5AF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868CD-39E9-47B0-8B9D-737FE252D4B5}" type="datetimeFigureOut">
              <a:rPr lang="es-AR" smtClean="0"/>
              <a:t>3/10/2026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5147D5F-2783-053C-F7AE-4523A3EAC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15C4FF-D672-0713-0EE1-5630AFDCC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C0201-03DA-4A68-8FCC-CFDCAD05403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26102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68F55D-26B6-0074-325E-5DFBE6A8D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6ADAF0-FBAB-9AD6-0DB1-66F998FCC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624EBD1-9788-36EE-D05A-5FC9F7040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4FD48D2-725A-D091-6FA3-9A294845E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868CD-39E9-47B0-8B9D-737FE252D4B5}" type="datetimeFigureOut">
              <a:rPr lang="es-AR" smtClean="0"/>
              <a:t>3/10/2026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C8C154F-E86A-036E-AEE9-60A800D0F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C066437-BA38-B697-BA40-F9335EF93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C0201-03DA-4A68-8FCC-CFDCAD05403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01503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33F077-08B8-EF87-8A8A-DC87017DF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A16969D-6B36-EB70-1D8D-9CBFB9AB43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DDFBD3C-FBCF-D858-4021-E695B925F5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96F2055-26F3-009F-240D-21BABC3B5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868CD-39E9-47B0-8B9D-737FE252D4B5}" type="datetimeFigureOut">
              <a:rPr lang="es-AR" smtClean="0"/>
              <a:t>3/10/2026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6D8CC63-686E-BD91-7978-65673B3C8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C43230C-AE42-7DD3-33E2-68699E381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C0201-03DA-4A68-8FCC-CFDCAD05403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77638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330816-FE7D-3545-ED7F-9AE917826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B162AB4-A9B1-818C-0DF5-BF364AB023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E779F5-F957-5526-6227-D1D3DE887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868CD-39E9-47B0-8B9D-737FE252D4B5}" type="datetimeFigureOut">
              <a:rPr lang="es-AR" smtClean="0"/>
              <a:t>3/10/2026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012F7-249C-89B6-34C0-BA6BB184B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8CED20-02CE-5A12-A4F9-A938E9795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C0201-03DA-4A68-8FCC-CFDCAD05403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03346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97F20C8-795D-2961-C5E7-D7F444E796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5C1E844-3E1C-E414-1BF1-1EF2D506DC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1C4F7A-5B27-0F0B-923B-451E62F18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868CD-39E9-47B0-8B9D-737FE252D4B5}" type="datetimeFigureOut">
              <a:rPr lang="es-AR" smtClean="0"/>
              <a:t>3/10/2026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048E31-C863-2951-DA4B-C6FDF68DD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8CCCB8A-3508-1434-08E8-EF182C438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C0201-03DA-4A68-8FCC-CFDCAD05403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96774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307F7C5-6399-B448-5283-3C9A7A367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2383FC8-EF35-BE8B-2A2B-0F7144CF3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B9BA27-66B5-EB9E-3D40-376748E5E6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4868CD-39E9-47B0-8B9D-737FE252D4B5}" type="datetimeFigureOut">
              <a:rPr lang="es-AR" smtClean="0"/>
              <a:t>3/10/2026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9D7BA3-DAF0-292C-FBC4-511D26CB5D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A9725F-FB22-3340-9331-842801CD3B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DC0201-03DA-4A68-8FCC-CFDCAD05403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68706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nsive farming: The plight of factory farmed dairy cows and their calves">
            <a:extLst>
              <a:ext uri="{FF2B5EF4-FFF2-40B4-BE49-F238E27FC236}">
                <a16:creationId xmlns:a16="http://schemas.microsoft.com/office/drawing/2014/main" id="{9FBF3DB1-E43F-E4B0-4FC1-17749F7F53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BCE573D1-8F60-EAA0-01E6-1A42B38732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4607">
              <a:alpha val="9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2" name="Marcador de texto 17">
            <a:extLst>
              <a:ext uri="{FF2B5EF4-FFF2-40B4-BE49-F238E27FC236}">
                <a16:creationId xmlns:a16="http://schemas.microsoft.com/office/drawing/2014/main" id="{335A461C-125A-2CB8-7D32-42D04387F3F7}"/>
              </a:ext>
            </a:extLst>
          </p:cNvPr>
          <p:cNvSpPr txBox="1">
            <a:spLocks/>
          </p:cNvSpPr>
          <p:nvPr/>
        </p:nvSpPr>
        <p:spPr>
          <a:xfrm>
            <a:off x="4242825" y="3149911"/>
            <a:ext cx="3706351" cy="2187195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50000"/>
              </a:lnSpc>
            </a:pPr>
            <a:r>
              <a:rPr lang="es-MX" sz="1800" dirty="0">
                <a:solidFill>
                  <a:schemeClr val="bg1"/>
                </a:solidFill>
                <a:latin typeface="Montserrat" pitchFamily="2" charset="0"/>
                <a:cs typeface="Poppins" panose="00000500000000000000" pitchFamily="2" charset="0"/>
              </a:rPr>
              <a:t>D</a:t>
            </a:r>
            <a:r>
              <a:rPr lang="es-AR" sz="1800" dirty="0">
                <a:solidFill>
                  <a:schemeClr val="bg1"/>
                </a:solidFill>
                <a:latin typeface="Montserrat" pitchFamily="2" charset="0"/>
                <a:cs typeface="Poppins" panose="00000500000000000000" pitchFamily="2" charset="0"/>
              </a:rPr>
              <a:t>ella Torre, Joaquín</a:t>
            </a:r>
          </a:p>
          <a:p>
            <a:pPr fontAlgn="base">
              <a:lnSpc>
                <a:spcPct val="150000"/>
              </a:lnSpc>
            </a:pPr>
            <a:r>
              <a:rPr lang="es-AR" sz="1800" dirty="0" err="1">
                <a:solidFill>
                  <a:schemeClr val="bg1"/>
                </a:solidFill>
                <a:latin typeface="Montserrat" pitchFamily="2" charset="0"/>
                <a:cs typeface="Poppins" panose="00000500000000000000" pitchFamily="2" charset="0"/>
              </a:rPr>
              <a:t>Gonzalez</a:t>
            </a:r>
            <a:r>
              <a:rPr lang="es-AR" sz="1800" dirty="0">
                <a:solidFill>
                  <a:schemeClr val="bg1"/>
                </a:solidFill>
                <a:latin typeface="Montserrat" pitchFamily="2" charset="0"/>
                <a:cs typeface="Poppins" panose="00000500000000000000" pitchFamily="2" charset="0"/>
              </a:rPr>
              <a:t> </a:t>
            </a:r>
            <a:r>
              <a:rPr lang="es-AR" sz="1800" dirty="0" err="1">
                <a:solidFill>
                  <a:schemeClr val="bg1"/>
                </a:solidFill>
                <a:latin typeface="Montserrat" pitchFamily="2" charset="0"/>
                <a:cs typeface="Poppins" panose="00000500000000000000" pitchFamily="2" charset="0"/>
              </a:rPr>
              <a:t>Camiscia</a:t>
            </a:r>
            <a:r>
              <a:rPr lang="es-AR" sz="1800" dirty="0">
                <a:solidFill>
                  <a:schemeClr val="bg1"/>
                </a:solidFill>
                <a:latin typeface="Montserrat" pitchFamily="2" charset="0"/>
                <a:cs typeface="Poppins" panose="00000500000000000000" pitchFamily="2" charset="0"/>
              </a:rPr>
              <a:t>, Santiago</a:t>
            </a:r>
          </a:p>
          <a:p>
            <a:pPr fontAlgn="base">
              <a:lnSpc>
                <a:spcPct val="150000"/>
              </a:lnSpc>
            </a:pPr>
            <a:r>
              <a:rPr lang="es-AR" sz="1800" dirty="0">
                <a:solidFill>
                  <a:schemeClr val="bg1"/>
                </a:solidFill>
                <a:latin typeface="Montserrat" pitchFamily="2" charset="0"/>
                <a:cs typeface="Poppins" panose="00000500000000000000" pitchFamily="2" charset="0"/>
              </a:rPr>
              <a:t>Romero Dominguez, Braulio</a:t>
            </a:r>
          </a:p>
          <a:p>
            <a:pPr fontAlgn="base">
              <a:lnSpc>
                <a:spcPct val="150000"/>
              </a:lnSpc>
            </a:pPr>
            <a:r>
              <a:rPr lang="es-AR" sz="1800" dirty="0">
                <a:solidFill>
                  <a:schemeClr val="bg1"/>
                </a:solidFill>
                <a:latin typeface="Montserrat" pitchFamily="2" charset="0"/>
                <a:cs typeface="Poppins" panose="00000500000000000000" pitchFamily="2" charset="0"/>
              </a:rPr>
              <a:t>Villegas </a:t>
            </a:r>
            <a:r>
              <a:rPr lang="es-AR" sz="1800" dirty="0" err="1">
                <a:solidFill>
                  <a:schemeClr val="bg1"/>
                </a:solidFill>
                <a:latin typeface="Montserrat" pitchFamily="2" charset="0"/>
                <a:cs typeface="Poppins" panose="00000500000000000000" pitchFamily="2" charset="0"/>
              </a:rPr>
              <a:t>Gonzalez</a:t>
            </a:r>
            <a:r>
              <a:rPr lang="es-AR" sz="1800" dirty="0">
                <a:solidFill>
                  <a:schemeClr val="bg1"/>
                </a:solidFill>
                <a:latin typeface="Montserrat" pitchFamily="2" charset="0"/>
                <a:cs typeface="Poppins" panose="00000500000000000000" pitchFamily="2" charset="0"/>
              </a:rPr>
              <a:t>, Alejandro</a:t>
            </a:r>
          </a:p>
        </p:txBody>
      </p:sp>
      <p:sp>
        <p:nvSpPr>
          <p:cNvPr id="34" name="Marcador de texto 17">
            <a:extLst>
              <a:ext uri="{FF2B5EF4-FFF2-40B4-BE49-F238E27FC236}">
                <a16:creationId xmlns:a16="http://schemas.microsoft.com/office/drawing/2014/main" id="{B704426E-81EB-F5F6-C7FD-E439E4D7EFF8}"/>
              </a:ext>
            </a:extLst>
          </p:cNvPr>
          <p:cNvSpPr txBox="1">
            <a:spLocks/>
          </p:cNvSpPr>
          <p:nvPr/>
        </p:nvSpPr>
        <p:spPr>
          <a:xfrm>
            <a:off x="3603043" y="2557024"/>
            <a:ext cx="4985914" cy="509862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base">
              <a:lnSpc>
                <a:spcPct val="150000"/>
              </a:lnSpc>
              <a:buNone/>
            </a:pPr>
            <a:r>
              <a:rPr lang="es-MX" sz="2000" b="1" dirty="0">
                <a:solidFill>
                  <a:schemeClr val="bg1"/>
                </a:solidFill>
                <a:latin typeface="Montserrat SemiBold" pitchFamily="2" charset="0"/>
                <a:cs typeface="Poppins" panose="00000500000000000000" pitchFamily="2" charset="0"/>
              </a:rPr>
              <a:t>E.E.S.T N°7  IMPA “TRQ“ – First Plan</a:t>
            </a:r>
            <a:endParaRPr lang="es-AR" sz="2000" b="1" dirty="0">
              <a:solidFill>
                <a:schemeClr val="bg1"/>
              </a:solidFill>
              <a:latin typeface="Montserrat SemiBold" pitchFamily="2" charset="0"/>
              <a:cs typeface="Poppins" panose="00000500000000000000" pitchFamily="2" charset="0"/>
            </a:endParaRPr>
          </a:p>
        </p:txBody>
      </p:sp>
      <p:pic>
        <p:nvPicPr>
          <p:cNvPr id="38" name="Imagen 37">
            <a:extLst>
              <a:ext uri="{FF2B5EF4-FFF2-40B4-BE49-F238E27FC236}">
                <a16:creationId xmlns:a16="http://schemas.microsoft.com/office/drawing/2014/main" id="{9109FB14-7CE0-AED4-417A-CE3981795F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720"/>
          <a:stretch>
            <a:fillRect/>
          </a:stretch>
        </p:blipFill>
        <p:spPr>
          <a:xfrm>
            <a:off x="1550087" y="-430283"/>
            <a:ext cx="9091827" cy="2987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587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D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2EA809-95E4-80FE-0968-0B1ABF3B3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2">
            <a:extLst>
              <a:ext uri="{FF2B5EF4-FFF2-40B4-BE49-F238E27FC236}">
                <a16:creationId xmlns:a16="http://schemas.microsoft.com/office/drawing/2014/main" id="{3A6D3E90-13D5-D302-E333-5054B1199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7473" y="237364"/>
            <a:ext cx="8057054" cy="932100"/>
          </a:xfrm>
          <a:ln>
            <a:noFill/>
          </a:ln>
        </p:spPr>
        <p:txBody>
          <a:bodyPr rtlCol="0" anchor="b">
            <a:normAutofit/>
          </a:bodyPr>
          <a:lstStyle/>
          <a:p>
            <a:pPr algn="ctr" rtl="0"/>
            <a:r>
              <a:rPr lang="es" sz="5000" b="1" dirty="0">
                <a:solidFill>
                  <a:srgbClr val="196D29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Business Model Canvas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AE05FA9-D5AB-EE3E-E205-D25FD7D150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743" y="1327355"/>
            <a:ext cx="9690514" cy="5137341"/>
          </a:xfrm>
          <a:prstGeom prst="rect">
            <a:avLst/>
          </a:prstGeom>
          <a:ln w="38100">
            <a:solidFill>
              <a:srgbClr val="EC7320"/>
            </a:solidFill>
          </a:ln>
        </p:spPr>
      </p:pic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9727D60C-DAD9-E11D-F41F-E919E536676C}"/>
              </a:ext>
            </a:extLst>
          </p:cNvPr>
          <p:cNvCxnSpPr>
            <a:cxnSpLocks/>
          </p:cNvCxnSpPr>
          <p:nvPr/>
        </p:nvCxnSpPr>
        <p:spPr>
          <a:xfrm>
            <a:off x="304800" y="-171000"/>
            <a:ext cx="0" cy="7200000"/>
          </a:xfrm>
          <a:prstGeom prst="line">
            <a:avLst/>
          </a:prstGeom>
          <a:ln w="38100">
            <a:solidFill>
              <a:srgbClr val="EC73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56877ABD-02A5-0A92-D5B2-BF10D1B896BC}"/>
              </a:ext>
            </a:extLst>
          </p:cNvPr>
          <p:cNvCxnSpPr>
            <a:cxnSpLocks/>
          </p:cNvCxnSpPr>
          <p:nvPr/>
        </p:nvCxnSpPr>
        <p:spPr>
          <a:xfrm>
            <a:off x="457200" y="-171000"/>
            <a:ext cx="0" cy="7200000"/>
          </a:xfrm>
          <a:prstGeom prst="line">
            <a:avLst/>
          </a:prstGeom>
          <a:ln w="38100">
            <a:solidFill>
              <a:srgbClr val="EC73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4355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3ACE780C-C6FA-1A98-7F6B-5BB2A60FB9B9}"/>
              </a:ext>
            </a:extLst>
          </p:cNvPr>
          <p:cNvCxnSpPr>
            <a:cxnSpLocks/>
          </p:cNvCxnSpPr>
          <p:nvPr/>
        </p:nvCxnSpPr>
        <p:spPr>
          <a:xfrm>
            <a:off x="304800" y="-171000"/>
            <a:ext cx="0" cy="7200000"/>
          </a:xfrm>
          <a:prstGeom prst="line">
            <a:avLst/>
          </a:prstGeom>
          <a:ln w="38100">
            <a:solidFill>
              <a:srgbClr val="EC73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1DBE1113-1653-7FAC-54EA-337B9E2AD933}"/>
              </a:ext>
            </a:extLst>
          </p:cNvPr>
          <p:cNvCxnSpPr>
            <a:cxnSpLocks/>
          </p:cNvCxnSpPr>
          <p:nvPr/>
        </p:nvCxnSpPr>
        <p:spPr>
          <a:xfrm>
            <a:off x="457200" y="-171000"/>
            <a:ext cx="0" cy="7200000"/>
          </a:xfrm>
          <a:prstGeom prst="line">
            <a:avLst/>
          </a:prstGeom>
          <a:ln w="38100">
            <a:solidFill>
              <a:srgbClr val="EC73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arcador de texto 24">
            <a:extLst>
              <a:ext uri="{FF2B5EF4-FFF2-40B4-BE49-F238E27FC236}">
                <a16:creationId xmlns:a16="http://schemas.microsoft.com/office/drawing/2014/main" id="{E4AEABF1-719C-350F-B69E-60C529CBC01F}"/>
              </a:ext>
            </a:extLst>
          </p:cNvPr>
          <p:cNvSpPr txBox="1">
            <a:spLocks/>
          </p:cNvSpPr>
          <p:nvPr/>
        </p:nvSpPr>
        <p:spPr>
          <a:xfrm>
            <a:off x="801329" y="187629"/>
            <a:ext cx="1591878" cy="1031569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8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  <a:cs typeface="Poppins" panose="00000500000000000000" pitchFamily="2" charset="0"/>
              </a:rPr>
              <a:t>01</a:t>
            </a:r>
          </a:p>
        </p:txBody>
      </p:sp>
      <p:sp>
        <p:nvSpPr>
          <p:cNvPr id="14" name="Título 2">
            <a:extLst>
              <a:ext uri="{FF2B5EF4-FFF2-40B4-BE49-F238E27FC236}">
                <a16:creationId xmlns:a16="http://schemas.microsoft.com/office/drawing/2014/main" id="{94FC94DB-FAE6-983C-630C-1B2671ABB328}"/>
              </a:ext>
            </a:extLst>
          </p:cNvPr>
          <p:cNvSpPr txBox="1">
            <a:spLocks/>
          </p:cNvSpPr>
          <p:nvPr/>
        </p:nvSpPr>
        <p:spPr>
          <a:xfrm>
            <a:off x="2206471" y="237364"/>
            <a:ext cx="8057054" cy="9321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" sz="5000" b="1" dirty="0">
                <a:solidFill>
                  <a:srgbClr val="196D29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Socios Clave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054B264D-E06F-B205-C371-0086B5058BF0}"/>
              </a:ext>
            </a:extLst>
          </p:cNvPr>
          <p:cNvGrpSpPr/>
          <p:nvPr/>
        </p:nvGrpSpPr>
        <p:grpSpPr>
          <a:xfrm>
            <a:off x="1525965" y="5437353"/>
            <a:ext cx="9689291" cy="1028229"/>
            <a:chOff x="1584960" y="5466850"/>
            <a:chExt cx="9689291" cy="1028229"/>
          </a:xfrm>
        </p:grpSpPr>
        <p:sp>
          <p:nvSpPr>
            <p:cNvPr id="19" name="Rectángulo: esquinas redondeadas 18">
              <a:extLst>
                <a:ext uri="{FF2B5EF4-FFF2-40B4-BE49-F238E27FC236}">
                  <a16:creationId xmlns:a16="http://schemas.microsoft.com/office/drawing/2014/main" id="{9E769115-C077-B042-CF39-837D6333A683}"/>
                </a:ext>
              </a:extLst>
            </p:cNvPr>
            <p:cNvSpPr/>
            <p:nvPr/>
          </p:nvSpPr>
          <p:spPr>
            <a:xfrm>
              <a:off x="1584960" y="5466850"/>
              <a:ext cx="9689291" cy="1028229"/>
            </a:xfrm>
            <a:prstGeom prst="roundRect">
              <a:avLst/>
            </a:prstGeom>
            <a:solidFill>
              <a:srgbClr val="0E4607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s-AR" sz="24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FF8A66A5-DFFF-F1C2-0901-6C09850FD7C4}"/>
                </a:ext>
              </a:extLst>
            </p:cNvPr>
            <p:cNvSpPr/>
            <p:nvPr/>
          </p:nvSpPr>
          <p:spPr>
            <a:xfrm>
              <a:off x="2203065" y="5590165"/>
              <a:ext cx="8796100" cy="739415"/>
            </a:xfrm>
            <a:prstGeom prst="roundRect">
              <a:avLst/>
            </a:prstGeom>
            <a:solidFill>
              <a:srgbClr val="125709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r>
                <a:rPr lang="es-MX" sz="2400" dirty="0">
                  <a:solidFill>
                    <a:schemeClr val="bg1"/>
                  </a:solidFill>
                  <a:latin typeface="Montserrat Black" pitchFamily="2" charset="0"/>
                  <a:cs typeface="Poppins" panose="00000500000000000000" pitchFamily="2" charset="0"/>
                </a:rPr>
                <a:t>  VETERINARIOS</a:t>
              </a:r>
              <a:r>
                <a:rPr lang="es-MX" sz="2400" dirty="0">
                  <a:solidFill>
                    <a:schemeClr val="bg1"/>
                  </a:solidFill>
                  <a:latin typeface="Montserrat Medium" pitchFamily="2" charset="0"/>
                  <a:cs typeface="Poppins" panose="00000500000000000000" pitchFamily="2" charset="0"/>
                </a:rPr>
                <a:t> — Análisis del comportamiento</a:t>
              </a:r>
              <a:endParaRPr lang="es-AR" sz="24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endParaRPr>
            </a:p>
          </p:txBody>
        </p: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27E39C34-057D-F4A4-EEB8-3E178BEA4FF8}"/>
                </a:ext>
              </a:extLst>
            </p:cNvPr>
            <p:cNvCxnSpPr>
              <a:cxnSpLocks/>
            </p:cNvCxnSpPr>
            <p:nvPr/>
          </p:nvCxnSpPr>
          <p:spPr>
            <a:xfrm>
              <a:off x="1894012" y="5746000"/>
              <a:ext cx="0" cy="497073"/>
            </a:xfrm>
            <a:prstGeom prst="line">
              <a:avLst/>
            </a:prstGeom>
            <a:ln w="28575" cap="rnd">
              <a:solidFill>
                <a:srgbClr val="EC732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upo 33">
            <a:extLst>
              <a:ext uri="{FF2B5EF4-FFF2-40B4-BE49-F238E27FC236}">
                <a16:creationId xmlns:a16="http://schemas.microsoft.com/office/drawing/2014/main" id="{47045683-F81A-202B-5AEA-A63DD83ACB82}"/>
              </a:ext>
            </a:extLst>
          </p:cNvPr>
          <p:cNvGrpSpPr/>
          <p:nvPr/>
        </p:nvGrpSpPr>
        <p:grpSpPr>
          <a:xfrm>
            <a:off x="1525965" y="4157118"/>
            <a:ext cx="9689291" cy="1028229"/>
            <a:chOff x="1584960" y="5466850"/>
            <a:chExt cx="9689291" cy="1028229"/>
          </a:xfrm>
        </p:grpSpPr>
        <p:sp>
          <p:nvSpPr>
            <p:cNvPr id="35" name="Rectángulo: esquinas redondeadas 34">
              <a:extLst>
                <a:ext uri="{FF2B5EF4-FFF2-40B4-BE49-F238E27FC236}">
                  <a16:creationId xmlns:a16="http://schemas.microsoft.com/office/drawing/2014/main" id="{4B577755-73ED-ECC4-389E-F2BD1A75E099}"/>
                </a:ext>
              </a:extLst>
            </p:cNvPr>
            <p:cNvSpPr/>
            <p:nvPr/>
          </p:nvSpPr>
          <p:spPr>
            <a:xfrm>
              <a:off x="1584960" y="5466850"/>
              <a:ext cx="9689291" cy="1028229"/>
            </a:xfrm>
            <a:prstGeom prst="roundRect">
              <a:avLst/>
            </a:prstGeom>
            <a:solidFill>
              <a:srgbClr val="0E4607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s-AR" sz="24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6" name="Rectángulo: esquinas redondeadas 35">
              <a:extLst>
                <a:ext uri="{FF2B5EF4-FFF2-40B4-BE49-F238E27FC236}">
                  <a16:creationId xmlns:a16="http://schemas.microsoft.com/office/drawing/2014/main" id="{8516EBB1-4820-6131-3AEB-CE8723E98FAC}"/>
                </a:ext>
              </a:extLst>
            </p:cNvPr>
            <p:cNvSpPr/>
            <p:nvPr/>
          </p:nvSpPr>
          <p:spPr>
            <a:xfrm>
              <a:off x="2203065" y="5590165"/>
              <a:ext cx="8796100" cy="739415"/>
            </a:xfrm>
            <a:prstGeom prst="roundRect">
              <a:avLst/>
            </a:prstGeom>
            <a:solidFill>
              <a:srgbClr val="125709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r>
                <a:rPr lang="es-MX" sz="2400" dirty="0">
                  <a:solidFill>
                    <a:schemeClr val="bg1"/>
                  </a:solidFill>
                  <a:latin typeface="Montserrat Black" pitchFamily="2" charset="0"/>
                  <a:cs typeface="Poppins" panose="00000500000000000000" pitchFamily="2" charset="0"/>
                </a:rPr>
                <a:t>  EMPRESAS AGRO</a:t>
              </a:r>
              <a:r>
                <a:rPr lang="es-MX" sz="2400" dirty="0">
                  <a:solidFill>
                    <a:schemeClr val="bg1"/>
                  </a:solidFill>
                  <a:latin typeface="Montserrat Medium" pitchFamily="2" charset="0"/>
                  <a:cs typeface="Poppins" panose="00000500000000000000" pitchFamily="2" charset="0"/>
                </a:rPr>
                <a:t> — Pruebas reales y feedback</a:t>
              </a:r>
              <a:endParaRPr lang="es-AR" sz="24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endParaRPr>
            </a:p>
          </p:txBody>
        </p: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C29EA5D7-0A28-8EB3-4126-F8F5EDA0FF7E}"/>
                </a:ext>
              </a:extLst>
            </p:cNvPr>
            <p:cNvCxnSpPr>
              <a:cxnSpLocks/>
            </p:cNvCxnSpPr>
            <p:nvPr/>
          </p:nvCxnSpPr>
          <p:spPr>
            <a:xfrm>
              <a:off x="1894012" y="5746000"/>
              <a:ext cx="0" cy="497073"/>
            </a:xfrm>
            <a:prstGeom prst="line">
              <a:avLst/>
            </a:prstGeom>
            <a:ln w="28575" cap="rnd">
              <a:solidFill>
                <a:srgbClr val="EC732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6D81ECDF-E7C0-59E4-B4DC-858ACF09FD99}"/>
              </a:ext>
            </a:extLst>
          </p:cNvPr>
          <p:cNvGrpSpPr/>
          <p:nvPr/>
        </p:nvGrpSpPr>
        <p:grpSpPr>
          <a:xfrm>
            <a:off x="1525964" y="2846060"/>
            <a:ext cx="9689291" cy="1028229"/>
            <a:chOff x="1584960" y="5466850"/>
            <a:chExt cx="9689291" cy="1028229"/>
          </a:xfrm>
        </p:grpSpPr>
        <p:sp>
          <p:nvSpPr>
            <p:cNvPr id="39" name="Rectángulo: esquinas redondeadas 38">
              <a:extLst>
                <a:ext uri="{FF2B5EF4-FFF2-40B4-BE49-F238E27FC236}">
                  <a16:creationId xmlns:a16="http://schemas.microsoft.com/office/drawing/2014/main" id="{74FD001C-858F-7446-4482-C413D9D36E55}"/>
                </a:ext>
              </a:extLst>
            </p:cNvPr>
            <p:cNvSpPr/>
            <p:nvPr/>
          </p:nvSpPr>
          <p:spPr>
            <a:xfrm>
              <a:off x="1584960" y="5466850"/>
              <a:ext cx="9689291" cy="1028229"/>
            </a:xfrm>
            <a:prstGeom prst="roundRect">
              <a:avLst/>
            </a:prstGeom>
            <a:solidFill>
              <a:srgbClr val="0E4607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s-AR" sz="24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0" name="Rectángulo: esquinas redondeadas 39">
              <a:extLst>
                <a:ext uri="{FF2B5EF4-FFF2-40B4-BE49-F238E27FC236}">
                  <a16:creationId xmlns:a16="http://schemas.microsoft.com/office/drawing/2014/main" id="{B69EABF4-A9DF-471F-0C7A-E981FF14E51F}"/>
                </a:ext>
              </a:extLst>
            </p:cNvPr>
            <p:cNvSpPr/>
            <p:nvPr/>
          </p:nvSpPr>
          <p:spPr>
            <a:xfrm>
              <a:off x="2203065" y="5590165"/>
              <a:ext cx="8796100" cy="739415"/>
            </a:xfrm>
            <a:prstGeom prst="roundRect">
              <a:avLst/>
            </a:prstGeom>
            <a:solidFill>
              <a:srgbClr val="125709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r>
                <a:rPr lang="es-MX" sz="2400" dirty="0">
                  <a:solidFill>
                    <a:schemeClr val="bg1"/>
                  </a:solidFill>
                  <a:latin typeface="Montserrat Black" pitchFamily="2" charset="0"/>
                  <a:cs typeface="Poppins" panose="00000500000000000000" pitchFamily="2" charset="0"/>
                </a:rPr>
                <a:t>  FABRICANTES</a:t>
              </a:r>
              <a:r>
                <a:rPr lang="es-MX" sz="2400" dirty="0">
                  <a:solidFill>
                    <a:schemeClr val="bg1"/>
                  </a:solidFill>
                  <a:latin typeface="Montserrat Medium" pitchFamily="2" charset="0"/>
                  <a:cs typeface="Poppins" panose="00000500000000000000" pitchFamily="2" charset="0"/>
                </a:rPr>
                <a:t> — PCBAs para diseños electrónicos</a:t>
              </a:r>
              <a:endParaRPr lang="es-AR" sz="24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endParaRPr>
            </a:p>
          </p:txBody>
        </p: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8A11B065-862E-EA81-48F4-00C02BC28A56}"/>
                </a:ext>
              </a:extLst>
            </p:cNvPr>
            <p:cNvCxnSpPr>
              <a:cxnSpLocks/>
            </p:cNvCxnSpPr>
            <p:nvPr/>
          </p:nvCxnSpPr>
          <p:spPr>
            <a:xfrm>
              <a:off x="1894012" y="5746000"/>
              <a:ext cx="0" cy="497073"/>
            </a:xfrm>
            <a:prstGeom prst="line">
              <a:avLst/>
            </a:prstGeom>
            <a:ln w="28575" cap="rnd">
              <a:solidFill>
                <a:srgbClr val="EC732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05CE4CE0-2A6E-E706-1DFE-82C765FE6340}"/>
              </a:ext>
            </a:extLst>
          </p:cNvPr>
          <p:cNvGrpSpPr/>
          <p:nvPr/>
        </p:nvGrpSpPr>
        <p:grpSpPr>
          <a:xfrm>
            <a:off x="1525963" y="1538950"/>
            <a:ext cx="9689291" cy="1028229"/>
            <a:chOff x="1584960" y="5466850"/>
            <a:chExt cx="9689291" cy="1028229"/>
          </a:xfrm>
        </p:grpSpPr>
        <p:sp>
          <p:nvSpPr>
            <p:cNvPr id="43" name="Rectángulo: esquinas redondeadas 42">
              <a:extLst>
                <a:ext uri="{FF2B5EF4-FFF2-40B4-BE49-F238E27FC236}">
                  <a16:creationId xmlns:a16="http://schemas.microsoft.com/office/drawing/2014/main" id="{DEB56D77-032C-BDA5-5A57-3558EBEF1F21}"/>
                </a:ext>
              </a:extLst>
            </p:cNvPr>
            <p:cNvSpPr/>
            <p:nvPr/>
          </p:nvSpPr>
          <p:spPr>
            <a:xfrm>
              <a:off x="1584960" y="5466850"/>
              <a:ext cx="9689291" cy="1028229"/>
            </a:xfrm>
            <a:prstGeom prst="roundRect">
              <a:avLst/>
            </a:prstGeom>
            <a:solidFill>
              <a:srgbClr val="0E4607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s-AR" sz="24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4" name="Rectángulo: esquinas redondeadas 43">
              <a:extLst>
                <a:ext uri="{FF2B5EF4-FFF2-40B4-BE49-F238E27FC236}">
                  <a16:creationId xmlns:a16="http://schemas.microsoft.com/office/drawing/2014/main" id="{500A9E87-902B-BDC3-6038-858C2EF50617}"/>
                </a:ext>
              </a:extLst>
            </p:cNvPr>
            <p:cNvSpPr/>
            <p:nvPr/>
          </p:nvSpPr>
          <p:spPr>
            <a:xfrm>
              <a:off x="2203065" y="5590165"/>
              <a:ext cx="8796100" cy="739415"/>
            </a:xfrm>
            <a:prstGeom prst="roundRect">
              <a:avLst/>
            </a:prstGeom>
            <a:solidFill>
              <a:srgbClr val="125709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r>
                <a:rPr lang="es-MX" sz="2400" dirty="0">
                  <a:solidFill>
                    <a:schemeClr val="bg1"/>
                  </a:solidFill>
                  <a:latin typeface="Montserrat Black" pitchFamily="2" charset="0"/>
                  <a:cs typeface="Poppins" panose="00000500000000000000" pitchFamily="2" charset="0"/>
                </a:rPr>
                <a:t>  PROV. ELECTRONICOS</a:t>
              </a:r>
              <a:r>
                <a:rPr lang="es-MX" sz="2400" dirty="0">
                  <a:solidFill>
                    <a:schemeClr val="bg1"/>
                  </a:solidFill>
                  <a:latin typeface="Montserrat Medium" pitchFamily="2" charset="0"/>
                  <a:cs typeface="Poppins" panose="00000500000000000000" pitchFamily="2" charset="0"/>
                </a:rPr>
                <a:t> — Insumos necesarios</a:t>
              </a:r>
              <a:endParaRPr lang="es-AR" sz="24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endParaRPr>
            </a:p>
          </p:txBody>
        </p: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F01578AE-D2E3-B8E8-FEA0-DBBF593A7B69}"/>
                </a:ext>
              </a:extLst>
            </p:cNvPr>
            <p:cNvCxnSpPr>
              <a:cxnSpLocks/>
            </p:cNvCxnSpPr>
            <p:nvPr/>
          </p:nvCxnSpPr>
          <p:spPr>
            <a:xfrm>
              <a:off x="1894012" y="5746000"/>
              <a:ext cx="0" cy="497073"/>
            </a:xfrm>
            <a:prstGeom prst="line">
              <a:avLst/>
            </a:prstGeom>
            <a:ln w="28575" cap="rnd">
              <a:solidFill>
                <a:srgbClr val="EC732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36753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D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D1F74B-AEA4-2A67-4DA3-75CE525C2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564A189-CC3F-5B93-89E3-B66FDCF703AA}"/>
              </a:ext>
            </a:extLst>
          </p:cNvPr>
          <p:cNvCxnSpPr>
            <a:cxnSpLocks/>
          </p:cNvCxnSpPr>
          <p:nvPr/>
        </p:nvCxnSpPr>
        <p:spPr>
          <a:xfrm>
            <a:off x="304800" y="-171000"/>
            <a:ext cx="0" cy="7200000"/>
          </a:xfrm>
          <a:prstGeom prst="line">
            <a:avLst/>
          </a:prstGeom>
          <a:ln w="38100">
            <a:solidFill>
              <a:srgbClr val="EC73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679DBB0-F033-7662-CDC4-707BA04F2B90}"/>
              </a:ext>
            </a:extLst>
          </p:cNvPr>
          <p:cNvCxnSpPr>
            <a:cxnSpLocks/>
          </p:cNvCxnSpPr>
          <p:nvPr/>
        </p:nvCxnSpPr>
        <p:spPr>
          <a:xfrm>
            <a:off x="457200" y="-171000"/>
            <a:ext cx="0" cy="7200000"/>
          </a:xfrm>
          <a:prstGeom prst="line">
            <a:avLst/>
          </a:prstGeom>
          <a:ln w="38100">
            <a:solidFill>
              <a:srgbClr val="EC73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arcador de texto 24">
            <a:extLst>
              <a:ext uri="{FF2B5EF4-FFF2-40B4-BE49-F238E27FC236}">
                <a16:creationId xmlns:a16="http://schemas.microsoft.com/office/drawing/2014/main" id="{5F90C319-8A51-42F1-C2B8-BD31BF896788}"/>
              </a:ext>
            </a:extLst>
          </p:cNvPr>
          <p:cNvSpPr txBox="1">
            <a:spLocks/>
          </p:cNvSpPr>
          <p:nvPr/>
        </p:nvSpPr>
        <p:spPr>
          <a:xfrm>
            <a:off x="801329" y="187629"/>
            <a:ext cx="1591878" cy="1031569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8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  <a:cs typeface="Poppins" panose="00000500000000000000" pitchFamily="2" charset="0"/>
              </a:rPr>
              <a:t>02</a:t>
            </a:r>
          </a:p>
        </p:txBody>
      </p:sp>
      <p:sp>
        <p:nvSpPr>
          <p:cNvPr id="14" name="Título 2">
            <a:extLst>
              <a:ext uri="{FF2B5EF4-FFF2-40B4-BE49-F238E27FC236}">
                <a16:creationId xmlns:a16="http://schemas.microsoft.com/office/drawing/2014/main" id="{2BC88688-25B6-5582-1EFB-C24E2866F53B}"/>
              </a:ext>
            </a:extLst>
          </p:cNvPr>
          <p:cNvSpPr txBox="1">
            <a:spLocks/>
          </p:cNvSpPr>
          <p:nvPr/>
        </p:nvSpPr>
        <p:spPr>
          <a:xfrm>
            <a:off x="2206471" y="237364"/>
            <a:ext cx="8057054" cy="9321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" sz="5000" b="1" dirty="0">
                <a:solidFill>
                  <a:srgbClr val="196D29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Actividades Clave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20C2DFD-114E-83D4-8370-66F81EF651B1}"/>
              </a:ext>
            </a:extLst>
          </p:cNvPr>
          <p:cNvSpPr/>
          <p:nvPr/>
        </p:nvSpPr>
        <p:spPr>
          <a:xfrm>
            <a:off x="733076" y="1433334"/>
            <a:ext cx="6695547" cy="1048182"/>
          </a:xfrm>
          <a:prstGeom prst="roundRect">
            <a:avLst/>
          </a:prstGeom>
          <a:solidFill>
            <a:srgbClr val="0E4607"/>
          </a:solidFill>
          <a:ln w="12700" cap="flat">
            <a:solidFill>
              <a:srgbClr val="0E4607"/>
            </a:solidFill>
            <a:prstDash val="solid"/>
            <a:miter/>
          </a:ln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s-MX" sz="2200" b="1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rPr>
              <a:t>Se divide en seis grandes áreas que    </a:t>
            </a:r>
          </a:p>
          <a:p>
            <a:pPr algn="ctr">
              <a:lnSpc>
                <a:spcPct val="120000"/>
              </a:lnSpc>
            </a:pPr>
            <a:r>
              <a:rPr lang="es-MX" sz="2200" b="1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rPr>
              <a:t>  involucran diferentes factores</a:t>
            </a:r>
            <a:endParaRPr lang="es-AR" sz="2200" b="1" dirty="0">
              <a:solidFill>
                <a:schemeClr val="bg1"/>
              </a:solidFill>
              <a:latin typeface="Montserrat Medium" pitchFamily="2" charset="0"/>
              <a:cs typeface="Poppins" panose="00000500000000000000" pitchFamily="2" charset="0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5FBDCAC9-06AF-4858-0B6F-17E3C704D75B}"/>
              </a:ext>
            </a:extLst>
          </p:cNvPr>
          <p:cNvSpPr/>
          <p:nvPr/>
        </p:nvSpPr>
        <p:spPr>
          <a:xfrm>
            <a:off x="1077961" y="2725314"/>
            <a:ext cx="6005782" cy="540000"/>
          </a:xfrm>
          <a:prstGeom prst="roundRect">
            <a:avLst/>
          </a:prstGeom>
          <a:solidFill>
            <a:srgbClr val="125709"/>
          </a:solidFill>
          <a:ln w="28575" cap="flat">
            <a:solidFill>
              <a:srgbClr val="0E4607"/>
            </a:solidFill>
            <a:prstDash val="solid"/>
            <a:miter/>
          </a:ln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s-MX" sz="20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rPr>
              <a:t>Desarrollo tecnológico y electrónico</a:t>
            </a:r>
            <a:endParaRPr lang="es-AR" sz="2000" dirty="0">
              <a:solidFill>
                <a:schemeClr val="bg1"/>
              </a:solidFill>
              <a:latin typeface="Montserrat Medium" pitchFamily="2" charset="0"/>
              <a:cs typeface="Poppins" panose="00000500000000000000" pitchFamily="2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17C31DA0-89EA-C7D2-40D0-92CC8159350A}"/>
              </a:ext>
            </a:extLst>
          </p:cNvPr>
          <p:cNvSpPr/>
          <p:nvPr/>
        </p:nvSpPr>
        <p:spPr>
          <a:xfrm>
            <a:off x="1077957" y="4968129"/>
            <a:ext cx="6005783" cy="540000"/>
          </a:xfrm>
          <a:prstGeom prst="roundRect">
            <a:avLst/>
          </a:prstGeom>
          <a:solidFill>
            <a:srgbClr val="125709"/>
          </a:solidFill>
          <a:ln w="28575" cap="flat">
            <a:solidFill>
              <a:srgbClr val="0E4607"/>
            </a:solidFill>
            <a:prstDash val="solid"/>
            <a:miter/>
          </a:ln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s-MX" sz="20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rPr>
              <a:t>Producción e implementación</a:t>
            </a:r>
            <a:endParaRPr lang="es-AR" sz="2000" dirty="0">
              <a:solidFill>
                <a:schemeClr val="bg1"/>
              </a:solidFill>
              <a:latin typeface="Montserrat Medium" pitchFamily="2" charset="0"/>
              <a:cs typeface="Poppins" panose="00000500000000000000" pitchFamily="2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330EBB29-5AD3-CE93-F34C-6D6D33927744}"/>
              </a:ext>
            </a:extLst>
          </p:cNvPr>
          <p:cNvSpPr/>
          <p:nvPr/>
        </p:nvSpPr>
        <p:spPr>
          <a:xfrm>
            <a:off x="1077958" y="3472919"/>
            <a:ext cx="6005783" cy="540000"/>
          </a:xfrm>
          <a:prstGeom prst="roundRect">
            <a:avLst/>
          </a:prstGeom>
          <a:solidFill>
            <a:srgbClr val="125709"/>
          </a:solidFill>
          <a:ln w="28575" cap="flat">
            <a:solidFill>
              <a:srgbClr val="0E4607"/>
            </a:solidFill>
            <a:prstDash val="solid"/>
            <a:miter/>
          </a:ln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s-MX" sz="20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rPr>
              <a:t>Infraestructura y manejo de datos</a:t>
            </a:r>
            <a:endParaRPr lang="es-AR" sz="2000" dirty="0">
              <a:solidFill>
                <a:schemeClr val="bg1"/>
              </a:solidFill>
              <a:latin typeface="Montserrat Medium" pitchFamily="2" charset="0"/>
              <a:cs typeface="Poppins" panose="00000500000000000000" pitchFamily="2" charset="0"/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32CBC4BC-F8B9-6CE2-DD07-30AFA1863635}"/>
              </a:ext>
            </a:extLst>
          </p:cNvPr>
          <p:cNvSpPr/>
          <p:nvPr/>
        </p:nvSpPr>
        <p:spPr>
          <a:xfrm>
            <a:off x="1077958" y="4220524"/>
            <a:ext cx="6005783" cy="540000"/>
          </a:xfrm>
          <a:prstGeom prst="roundRect">
            <a:avLst/>
          </a:prstGeom>
          <a:solidFill>
            <a:srgbClr val="125709"/>
          </a:solidFill>
          <a:ln w="28575" cap="flat">
            <a:solidFill>
              <a:srgbClr val="0E4607"/>
            </a:solidFill>
            <a:prstDash val="solid"/>
            <a:miter/>
          </a:ln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s-MX" sz="20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rPr>
              <a:t>Análisis y monitoreo inteligente</a:t>
            </a:r>
            <a:endParaRPr lang="es-AR" sz="2000" dirty="0">
              <a:solidFill>
                <a:schemeClr val="bg1"/>
              </a:solidFill>
              <a:latin typeface="Montserrat Medium" pitchFamily="2" charset="0"/>
              <a:cs typeface="Poppins" panose="00000500000000000000" pitchFamily="2" charset="0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6F7108F5-62BA-3C4B-3A6E-F332C73E9F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7233" y="1573500"/>
            <a:ext cx="4534767" cy="4711733"/>
          </a:xfrm>
          <a:prstGeom prst="rect">
            <a:avLst/>
          </a:prstGeom>
        </p:spPr>
      </p:pic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9E9BDD55-5B3A-EF5D-C4EE-75038547A5F9}"/>
              </a:ext>
            </a:extLst>
          </p:cNvPr>
          <p:cNvSpPr/>
          <p:nvPr/>
        </p:nvSpPr>
        <p:spPr>
          <a:xfrm>
            <a:off x="1077957" y="5715734"/>
            <a:ext cx="6005783" cy="540000"/>
          </a:xfrm>
          <a:prstGeom prst="roundRect">
            <a:avLst/>
          </a:prstGeom>
          <a:solidFill>
            <a:srgbClr val="125709"/>
          </a:solidFill>
          <a:ln w="28575" cap="flat">
            <a:solidFill>
              <a:srgbClr val="0E4607"/>
            </a:solidFill>
            <a:prstDash val="solid"/>
            <a:miter/>
          </a:ln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s-MX" sz="20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rPr>
              <a:t>Soporte, logística y mejora</a:t>
            </a:r>
            <a:endParaRPr lang="es-AR" sz="2000" dirty="0">
              <a:solidFill>
                <a:schemeClr val="bg1"/>
              </a:solidFill>
              <a:latin typeface="Montserrat Medium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144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D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23C98E-BCAD-CC4D-E4C7-C309BEDA9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7875CC1C-1949-7275-0AE3-F2CE2152FE1B}"/>
              </a:ext>
            </a:extLst>
          </p:cNvPr>
          <p:cNvCxnSpPr>
            <a:cxnSpLocks/>
          </p:cNvCxnSpPr>
          <p:nvPr/>
        </p:nvCxnSpPr>
        <p:spPr>
          <a:xfrm>
            <a:off x="304800" y="-171000"/>
            <a:ext cx="0" cy="7200000"/>
          </a:xfrm>
          <a:prstGeom prst="line">
            <a:avLst/>
          </a:prstGeom>
          <a:ln w="38100">
            <a:solidFill>
              <a:srgbClr val="EC73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95759CA2-EDD5-D12A-AF9D-A208917F08F6}"/>
              </a:ext>
            </a:extLst>
          </p:cNvPr>
          <p:cNvCxnSpPr>
            <a:cxnSpLocks/>
          </p:cNvCxnSpPr>
          <p:nvPr/>
        </p:nvCxnSpPr>
        <p:spPr>
          <a:xfrm>
            <a:off x="457200" y="-171000"/>
            <a:ext cx="0" cy="7200000"/>
          </a:xfrm>
          <a:prstGeom prst="line">
            <a:avLst/>
          </a:prstGeom>
          <a:ln w="38100">
            <a:solidFill>
              <a:srgbClr val="EC73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arcador de texto 24">
            <a:extLst>
              <a:ext uri="{FF2B5EF4-FFF2-40B4-BE49-F238E27FC236}">
                <a16:creationId xmlns:a16="http://schemas.microsoft.com/office/drawing/2014/main" id="{3F58035A-BECE-82D3-3F18-61CF7AF6962A}"/>
              </a:ext>
            </a:extLst>
          </p:cNvPr>
          <p:cNvSpPr txBox="1">
            <a:spLocks/>
          </p:cNvSpPr>
          <p:nvPr/>
        </p:nvSpPr>
        <p:spPr>
          <a:xfrm>
            <a:off x="801329" y="187629"/>
            <a:ext cx="1591878" cy="1031569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8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  <a:cs typeface="Poppins" panose="00000500000000000000" pitchFamily="2" charset="0"/>
              </a:rPr>
              <a:t>03</a:t>
            </a:r>
          </a:p>
        </p:txBody>
      </p:sp>
      <p:sp>
        <p:nvSpPr>
          <p:cNvPr id="14" name="Título 2">
            <a:extLst>
              <a:ext uri="{FF2B5EF4-FFF2-40B4-BE49-F238E27FC236}">
                <a16:creationId xmlns:a16="http://schemas.microsoft.com/office/drawing/2014/main" id="{A1CBF4A7-15FC-1A40-7C61-ED087D7AE1A5}"/>
              </a:ext>
            </a:extLst>
          </p:cNvPr>
          <p:cNvSpPr txBox="1">
            <a:spLocks/>
          </p:cNvSpPr>
          <p:nvPr/>
        </p:nvSpPr>
        <p:spPr>
          <a:xfrm>
            <a:off x="2206471" y="237364"/>
            <a:ext cx="8057054" cy="9321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" sz="5000" b="1" dirty="0">
                <a:solidFill>
                  <a:srgbClr val="196D29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Recursos Clave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5201A243-8FAB-91C9-AB40-D15A18A3B9EA}"/>
              </a:ext>
            </a:extLst>
          </p:cNvPr>
          <p:cNvSpPr/>
          <p:nvPr/>
        </p:nvSpPr>
        <p:spPr>
          <a:xfrm>
            <a:off x="1229032" y="1681317"/>
            <a:ext cx="5978008" cy="806245"/>
          </a:xfrm>
          <a:prstGeom prst="roundRect">
            <a:avLst/>
          </a:prstGeom>
          <a:solidFill>
            <a:srgbClr val="125709"/>
          </a:solidFill>
          <a:ln w="28575">
            <a:solidFill>
              <a:srgbClr val="0E460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Montserrat Medium" pitchFamily="2" charset="0"/>
              </a:rPr>
              <a:t>Diseños de Hardware para los collares</a:t>
            </a:r>
            <a:endParaRPr lang="es-AR" dirty="0">
              <a:latin typeface="Montserrat Medium" pitchFamily="2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80774ACD-8E04-36AF-B37A-95185064F4FA}"/>
              </a:ext>
            </a:extLst>
          </p:cNvPr>
          <p:cNvSpPr/>
          <p:nvPr/>
        </p:nvSpPr>
        <p:spPr>
          <a:xfrm>
            <a:off x="5127523" y="2856271"/>
            <a:ext cx="5978008" cy="938984"/>
          </a:xfrm>
          <a:prstGeom prst="roundRect">
            <a:avLst/>
          </a:prstGeom>
          <a:solidFill>
            <a:srgbClr val="125709"/>
          </a:solidFill>
          <a:ln w="28575">
            <a:solidFill>
              <a:srgbClr val="0E460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Montserrat Medium" pitchFamily="2" charset="0"/>
              </a:rPr>
              <a:t>Plataforma de Software para la estación receptora</a:t>
            </a:r>
            <a:endParaRPr lang="es-AR" dirty="0">
              <a:latin typeface="Montserrat Medium" pitchFamily="2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F609FFC5-27DF-A5E8-9E1B-252EF94DD193}"/>
              </a:ext>
            </a:extLst>
          </p:cNvPr>
          <p:cNvSpPr/>
          <p:nvPr/>
        </p:nvSpPr>
        <p:spPr>
          <a:xfrm>
            <a:off x="1229032" y="4277037"/>
            <a:ext cx="5978008" cy="806245"/>
          </a:xfrm>
          <a:prstGeom prst="roundRect">
            <a:avLst/>
          </a:prstGeom>
          <a:solidFill>
            <a:srgbClr val="125709"/>
          </a:solidFill>
          <a:ln w="28575">
            <a:solidFill>
              <a:srgbClr val="0E460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Montserrat Medium" pitchFamily="2" charset="0"/>
              </a:rPr>
              <a:t>Equipo técnico de mantenimiento</a:t>
            </a:r>
            <a:endParaRPr lang="es-AR" dirty="0">
              <a:latin typeface="Montserrat Medium" pitchFamily="2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21CCCD54-31F1-7F18-B1DE-F1945FE5C2CB}"/>
              </a:ext>
            </a:extLst>
          </p:cNvPr>
          <p:cNvSpPr/>
          <p:nvPr/>
        </p:nvSpPr>
        <p:spPr>
          <a:xfrm>
            <a:off x="5127523" y="5565064"/>
            <a:ext cx="5978008" cy="939600"/>
          </a:xfrm>
          <a:prstGeom prst="roundRect">
            <a:avLst/>
          </a:prstGeom>
          <a:solidFill>
            <a:srgbClr val="125709"/>
          </a:solidFill>
          <a:ln w="28575">
            <a:solidFill>
              <a:srgbClr val="0E460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Montserrat Medium" pitchFamily="2" charset="0"/>
              </a:rPr>
              <a:t>Equipamiento para carcasas 3D                              de los collares</a:t>
            </a:r>
            <a:endParaRPr lang="es-AR" dirty="0">
              <a:latin typeface="Montserrat Medium" pitchFamily="2" charset="0"/>
            </a:endParaRP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DC61CAB2-A927-0EF1-EF4A-0544C231B42C}"/>
              </a:ext>
            </a:extLst>
          </p:cNvPr>
          <p:cNvSpPr/>
          <p:nvPr/>
        </p:nvSpPr>
        <p:spPr>
          <a:xfrm>
            <a:off x="1449784" y="1936955"/>
            <a:ext cx="294968" cy="294968"/>
          </a:xfrm>
          <a:prstGeom prst="ellipse">
            <a:avLst/>
          </a:prstGeom>
          <a:solidFill>
            <a:srgbClr val="EC7320"/>
          </a:solidFill>
          <a:ln w="28575">
            <a:solidFill>
              <a:srgbClr val="0E460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ECAD37F2-CEF9-90CB-0704-A240184CC3F2}"/>
              </a:ext>
            </a:extLst>
          </p:cNvPr>
          <p:cNvSpPr/>
          <p:nvPr/>
        </p:nvSpPr>
        <p:spPr>
          <a:xfrm>
            <a:off x="5328610" y="3178279"/>
            <a:ext cx="294968" cy="294968"/>
          </a:xfrm>
          <a:prstGeom prst="ellipse">
            <a:avLst/>
          </a:prstGeom>
          <a:solidFill>
            <a:srgbClr val="EC7320"/>
          </a:solidFill>
          <a:ln w="28575">
            <a:solidFill>
              <a:srgbClr val="0E460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D6F0DFD5-E7D1-EEAD-AFC9-35A959F786B5}"/>
              </a:ext>
            </a:extLst>
          </p:cNvPr>
          <p:cNvSpPr/>
          <p:nvPr/>
        </p:nvSpPr>
        <p:spPr>
          <a:xfrm>
            <a:off x="1449784" y="4532675"/>
            <a:ext cx="294968" cy="294968"/>
          </a:xfrm>
          <a:prstGeom prst="ellipse">
            <a:avLst/>
          </a:prstGeom>
          <a:solidFill>
            <a:srgbClr val="EC7320"/>
          </a:solidFill>
          <a:ln w="28575">
            <a:solidFill>
              <a:srgbClr val="0E460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D1015B50-DC72-31DD-F9F4-DD341C793C7D}"/>
              </a:ext>
            </a:extLst>
          </p:cNvPr>
          <p:cNvSpPr/>
          <p:nvPr/>
        </p:nvSpPr>
        <p:spPr>
          <a:xfrm>
            <a:off x="5328610" y="5889529"/>
            <a:ext cx="294968" cy="294968"/>
          </a:xfrm>
          <a:prstGeom prst="ellipse">
            <a:avLst/>
          </a:prstGeom>
          <a:solidFill>
            <a:srgbClr val="EC7320"/>
          </a:solidFill>
          <a:ln w="28575">
            <a:solidFill>
              <a:srgbClr val="0E460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B657120-5FBE-7889-E0EA-78848B419348}"/>
              </a:ext>
            </a:extLst>
          </p:cNvPr>
          <p:cNvSpPr/>
          <p:nvPr/>
        </p:nvSpPr>
        <p:spPr>
          <a:xfrm>
            <a:off x="1430119" y="1986116"/>
            <a:ext cx="334297" cy="3342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0" dirty="0"/>
              <a:t>*</a:t>
            </a:r>
            <a:endParaRPr lang="es-AR" sz="3000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524DDAC4-9E41-F15F-6FFF-1DE72FE885BA}"/>
              </a:ext>
            </a:extLst>
          </p:cNvPr>
          <p:cNvSpPr/>
          <p:nvPr/>
        </p:nvSpPr>
        <p:spPr>
          <a:xfrm>
            <a:off x="1430119" y="4653119"/>
            <a:ext cx="334297" cy="201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0" dirty="0"/>
              <a:t>*</a:t>
            </a:r>
            <a:endParaRPr lang="es-AR" sz="3000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13277F54-509F-19A8-BA06-34F7B822F6DA}"/>
              </a:ext>
            </a:extLst>
          </p:cNvPr>
          <p:cNvSpPr/>
          <p:nvPr/>
        </p:nvSpPr>
        <p:spPr>
          <a:xfrm>
            <a:off x="5308945" y="3232357"/>
            <a:ext cx="334297" cy="3342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0" dirty="0"/>
              <a:t>*</a:t>
            </a:r>
            <a:endParaRPr lang="es-AR" sz="3000" dirty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913B6220-98ED-308B-D6DD-874BEF101645}"/>
              </a:ext>
            </a:extLst>
          </p:cNvPr>
          <p:cNvSpPr/>
          <p:nvPr/>
        </p:nvSpPr>
        <p:spPr>
          <a:xfrm>
            <a:off x="5308945" y="6002599"/>
            <a:ext cx="334297" cy="2064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0" dirty="0"/>
              <a:t>*</a:t>
            </a:r>
            <a:endParaRPr lang="es-AR" sz="3000" dirty="0"/>
          </a:p>
        </p:txBody>
      </p:sp>
    </p:spTree>
    <p:extLst>
      <p:ext uri="{BB962C8B-B14F-4D97-AF65-F5344CB8AC3E}">
        <p14:creationId xmlns:p14="http://schemas.microsoft.com/office/powerpoint/2010/main" val="580518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D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790E1E-6EF6-F77C-BECB-44F519AA6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F54B9E89-02B9-F2C4-9A90-A5D9A41D9C98}"/>
              </a:ext>
            </a:extLst>
          </p:cNvPr>
          <p:cNvCxnSpPr>
            <a:cxnSpLocks/>
          </p:cNvCxnSpPr>
          <p:nvPr/>
        </p:nvCxnSpPr>
        <p:spPr>
          <a:xfrm>
            <a:off x="304800" y="-171000"/>
            <a:ext cx="0" cy="7200000"/>
          </a:xfrm>
          <a:prstGeom prst="line">
            <a:avLst/>
          </a:prstGeom>
          <a:ln w="38100">
            <a:solidFill>
              <a:srgbClr val="EC73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13162A8E-7706-BD1D-1100-CBA873FE1015}"/>
              </a:ext>
            </a:extLst>
          </p:cNvPr>
          <p:cNvCxnSpPr>
            <a:cxnSpLocks/>
          </p:cNvCxnSpPr>
          <p:nvPr/>
        </p:nvCxnSpPr>
        <p:spPr>
          <a:xfrm>
            <a:off x="457200" y="-171000"/>
            <a:ext cx="0" cy="7200000"/>
          </a:xfrm>
          <a:prstGeom prst="line">
            <a:avLst/>
          </a:prstGeom>
          <a:ln w="38100">
            <a:solidFill>
              <a:srgbClr val="EC73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arcador de texto 24">
            <a:extLst>
              <a:ext uri="{FF2B5EF4-FFF2-40B4-BE49-F238E27FC236}">
                <a16:creationId xmlns:a16="http://schemas.microsoft.com/office/drawing/2014/main" id="{36A198D3-282E-8908-7258-6AA128ACF49A}"/>
              </a:ext>
            </a:extLst>
          </p:cNvPr>
          <p:cNvSpPr txBox="1">
            <a:spLocks/>
          </p:cNvSpPr>
          <p:nvPr/>
        </p:nvSpPr>
        <p:spPr>
          <a:xfrm>
            <a:off x="801329" y="187629"/>
            <a:ext cx="1591878" cy="1031569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8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  <a:cs typeface="Poppins" panose="00000500000000000000" pitchFamily="2" charset="0"/>
              </a:rPr>
              <a:t>04</a:t>
            </a:r>
          </a:p>
        </p:txBody>
      </p:sp>
      <p:sp>
        <p:nvSpPr>
          <p:cNvPr id="14" name="Título 2">
            <a:extLst>
              <a:ext uri="{FF2B5EF4-FFF2-40B4-BE49-F238E27FC236}">
                <a16:creationId xmlns:a16="http://schemas.microsoft.com/office/drawing/2014/main" id="{B70A0325-BE49-74D8-A9B6-9F8F51531827}"/>
              </a:ext>
            </a:extLst>
          </p:cNvPr>
          <p:cNvSpPr txBox="1">
            <a:spLocks/>
          </p:cNvSpPr>
          <p:nvPr/>
        </p:nvSpPr>
        <p:spPr>
          <a:xfrm>
            <a:off x="2206471" y="237364"/>
            <a:ext cx="8057054" cy="9321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" sz="5000" b="1" dirty="0">
                <a:solidFill>
                  <a:srgbClr val="196D29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Propuesta de Valor</a:t>
            </a:r>
          </a:p>
        </p:txBody>
      </p:sp>
      <p:sp>
        <p:nvSpPr>
          <p:cNvPr id="5" name="Google Shape;161;p18">
            <a:extLst>
              <a:ext uri="{FF2B5EF4-FFF2-40B4-BE49-F238E27FC236}">
                <a16:creationId xmlns:a16="http://schemas.microsoft.com/office/drawing/2014/main" id="{2671539F-891B-9208-1239-5865C4A60C85}"/>
              </a:ext>
            </a:extLst>
          </p:cNvPr>
          <p:cNvSpPr/>
          <p:nvPr/>
        </p:nvSpPr>
        <p:spPr>
          <a:xfrm>
            <a:off x="6531785" y="1848298"/>
            <a:ext cx="5378400" cy="672690"/>
          </a:xfrm>
          <a:prstGeom prst="roundRect">
            <a:avLst>
              <a:gd name="adj" fmla="val 16667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Ubicación: </a:t>
            </a:r>
            <a:r>
              <a:rPr lang="es-MX" sz="16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Posición precisa en tiempo real.</a:t>
            </a:r>
            <a:endParaRPr lang="es-MX" sz="160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7" name="Google Shape;161;p18">
            <a:extLst>
              <a:ext uri="{FF2B5EF4-FFF2-40B4-BE49-F238E27FC236}">
                <a16:creationId xmlns:a16="http://schemas.microsoft.com/office/drawing/2014/main" id="{B0AA205C-0EB1-A4BC-3385-BB1FE083C270}"/>
              </a:ext>
            </a:extLst>
          </p:cNvPr>
          <p:cNvSpPr/>
          <p:nvPr/>
        </p:nvSpPr>
        <p:spPr>
          <a:xfrm>
            <a:off x="6531785" y="2772597"/>
            <a:ext cx="5378400" cy="672690"/>
          </a:xfrm>
          <a:prstGeom prst="roundRect">
            <a:avLst>
              <a:gd name="adj" fmla="val 16667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Información: </a:t>
            </a:r>
            <a:r>
              <a:rPr lang="es-MX" sz="16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Datos personales del animal.</a:t>
            </a:r>
            <a:endParaRPr lang="es-MX" sz="16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" name="Google Shape;161;p18">
            <a:extLst>
              <a:ext uri="{FF2B5EF4-FFF2-40B4-BE49-F238E27FC236}">
                <a16:creationId xmlns:a16="http://schemas.microsoft.com/office/drawing/2014/main" id="{96BBF46D-D5CC-577F-8D60-F1E3C4FC632D}"/>
              </a:ext>
            </a:extLst>
          </p:cNvPr>
          <p:cNvSpPr/>
          <p:nvPr/>
        </p:nvSpPr>
        <p:spPr>
          <a:xfrm>
            <a:off x="6539716" y="3696895"/>
            <a:ext cx="5378400" cy="672690"/>
          </a:xfrm>
          <a:prstGeom prst="roundRect">
            <a:avLst>
              <a:gd name="adj" fmla="val 16667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Monitoreo: </a:t>
            </a:r>
            <a:r>
              <a:rPr lang="es-MX" sz="1600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Comportamiento y patrones.</a:t>
            </a:r>
            <a:endParaRPr lang="es-MX" sz="1600" b="1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" name="Google Shape;161;p18">
            <a:extLst>
              <a:ext uri="{FF2B5EF4-FFF2-40B4-BE49-F238E27FC236}">
                <a16:creationId xmlns:a16="http://schemas.microsoft.com/office/drawing/2014/main" id="{2E1C2E8F-87DC-665B-A26A-FFA5E82E472C}"/>
              </a:ext>
            </a:extLst>
          </p:cNvPr>
          <p:cNvSpPr/>
          <p:nvPr/>
        </p:nvSpPr>
        <p:spPr>
          <a:xfrm>
            <a:off x="6516731" y="4621193"/>
            <a:ext cx="5378400" cy="672690"/>
          </a:xfrm>
          <a:prstGeom prst="roundRect">
            <a:avLst>
              <a:gd name="adj" fmla="val 16667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Análisis: 	</a:t>
            </a:r>
            <a:r>
              <a:rPr lang="es-MX" sz="16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Historial de datos analizados. </a:t>
            </a:r>
            <a:endParaRPr lang="es-MX" sz="16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86AF308-F489-09BD-B8C5-7CDA74FD7B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975" y="1788561"/>
            <a:ext cx="5621036" cy="4440362"/>
          </a:xfrm>
          <a:prstGeom prst="rect">
            <a:avLst/>
          </a:prstGeom>
          <a:ln w="28575">
            <a:solidFill>
              <a:srgbClr val="0E4607"/>
            </a:solidFill>
          </a:ln>
        </p:spPr>
      </p:pic>
      <p:sp>
        <p:nvSpPr>
          <p:cNvPr id="7" name="Google Shape;161;p18">
            <a:extLst>
              <a:ext uri="{FF2B5EF4-FFF2-40B4-BE49-F238E27FC236}">
                <a16:creationId xmlns:a16="http://schemas.microsoft.com/office/drawing/2014/main" id="{2E33AE89-4004-A2F6-2D57-9C812C08FE63}"/>
              </a:ext>
            </a:extLst>
          </p:cNvPr>
          <p:cNvSpPr/>
          <p:nvPr/>
        </p:nvSpPr>
        <p:spPr>
          <a:xfrm>
            <a:off x="6516731" y="5545491"/>
            <a:ext cx="5378400" cy="672690"/>
          </a:xfrm>
          <a:prstGeom prst="roundRect">
            <a:avLst>
              <a:gd name="adj" fmla="val 16667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Alertas: </a:t>
            </a:r>
            <a:r>
              <a:rPr lang="es-MX" sz="1600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Anomalías detectadas automáticamente.</a:t>
            </a:r>
            <a:endParaRPr lang="es-MX" sz="16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3E0ADB50-DC63-CD7E-0B00-41459860D2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58553" y="1678032"/>
            <a:ext cx="4425471" cy="466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024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D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1E5A30-5FA7-7CAD-163B-37C13648D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17C9636D-82B9-7E76-B74A-787E26096D8F}"/>
              </a:ext>
            </a:extLst>
          </p:cNvPr>
          <p:cNvCxnSpPr>
            <a:cxnSpLocks/>
          </p:cNvCxnSpPr>
          <p:nvPr/>
        </p:nvCxnSpPr>
        <p:spPr>
          <a:xfrm>
            <a:off x="304800" y="-171000"/>
            <a:ext cx="0" cy="7200000"/>
          </a:xfrm>
          <a:prstGeom prst="line">
            <a:avLst/>
          </a:prstGeom>
          <a:ln w="38100">
            <a:solidFill>
              <a:srgbClr val="EC73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9B243C6-1995-B030-86EC-6BA47F6B95D9}"/>
              </a:ext>
            </a:extLst>
          </p:cNvPr>
          <p:cNvCxnSpPr>
            <a:cxnSpLocks/>
          </p:cNvCxnSpPr>
          <p:nvPr/>
        </p:nvCxnSpPr>
        <p:spPr>
          <a:xfrm>
            <a:off x="457200" y="-171000"/>
            <a:ext cx="0" cy="7200000"/>
          </a:xfrm>
          <a:prstGeom prst="line">
            <a:avLst/>
          </a:prstGeom>
          <a:ln w="38100">
            <a:solidFill>
              <a:srgbClr val="EC73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arcador de texto 24">
            <a:extLst>
              <a:ext uri="{FF2B5EF4-FFF2-40B4-BE49-F238E27FC236}">
                <a16:creationId xmlns:a16="http://schemas.microsoft.com/office/drawing/2014/main" id="{1BA34DCD-5630-432B-FADB-08D3FFCA7CE1}"/>
              </a:ext>
            </a:extLst>
          </p:cNvPr>
          <p:cNvSpPr txBox="1">
            <a:spLocks/>
          </p:cNvSpPr>
          <p:nvPr/>
        </p:nvSpPr>
        <p:spPr>
          <a:xfrm>
            <a:off x="801329" y="187629"/>
            <a:ext cx="1591878" cy="1031569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8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  <a:cs typeface="Poppins" panose="00000500000000000000" pitchFamily="2" charset="0"/>
              </a:rPr>
              <a:t>05</a:t>
            </a:r>
          </a:p>
        </p:txBody>
      </p:sp>
      <p:sp>
        <p:nvSpPr>
          <p:cNvPr id="14" name="Título 2">
            <a:extLst>
              <a:ext uri="{FF2B5EF4-FFF2-40B4-BE49-F238E27FC236}">
                <a16:creationId xmlns:a16="http://schemas.microsoft.com/office/drawing/2014/main" id="{01ABDA52-120C-BD2C-06C4-8E759508A9FD}"/>
              </a:ext>
            </a:extLst>
          </p:cNvPr>
          <p:cNvSpPr txBox="1">
            <a:spLocks/>
          </p:cNvSpPr>
          <p:nvPr/>
        </p:nvSpPr>
        <p:spPr>
          <a:xfrm>
            <a:off x="2206471" y="237364"/>
            <a:ext cx="8057054" cy="9321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" sz="5000" b="1" dirty="0">
                <a:solidFill>
                  <a:srgbClr val="196D29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Relación de cliente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50E5BBBC-9FEA-54B5-9CB8-1894BD18F088}"/>
              </a:ext>
            </a:extLst>
          </p:cNvPr>
          <p:cNvCxnSpPr>
            <a:cxnSpLocks/>
          </p:cNvCxnSpPr>
          <p:nvPr/>
        </p:nvCxnSpPr>
        <p:spPr>
          <a:xfrm flipH="1">
            <a:off x="803786" y="0"/>
            <a:ext cx="8683" cy="6858000"/>
          </a:xfrm>
          <a:prstGeom prst="line">
            <a:avLst/>
          </a:prstGeom>
          <a:ln w="44450">
            <a:solidFill>
              <a:srgbClr val="F4711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E60562D4-6572-4A3C-7570-DECFC8D74B3D}"/>
              </a:ext>
            </a:extLst>
          </p:cNvPr>
          <p:cNvSpPr/>
          <p:nvPr/>
        </p:nvSpPr>
        <p:spPr>
          <a:xfrm>
            <a:off x="2053790" y="1981552"/>
            <a:ext cx="9497962" cy="1291534"/>
          </a:xfrm>
          <a:prstGeom prst="roundRect">
            <a:avLst/>
          </a:prstGeom>
          <a:solidFill>
            <a:srgbClr val="125709"/>
          </a:solidFill>
          <a:ln w="38100">
            <a:solidFill>
              <a:srgbClr val="0E460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r>
              <a:rPr lang="es-MX" sz="1600" b="1" dirty="0">
                <a:latin typeface="Montserrat Medium" pitchFamily="2" charset="0"/>
              </a:rPr>
              <a:t>Instalación: </a:t>
            </a:r>
            <a:r>
              <a:rPr lang="es-MX" sz="1600" dirty="0">
                <a:latin typeface="Montserrat Medium" pitchFamily="2" charset="0"/>
              </a:rPr>
              <a:t>El equipo se encargará de la configuración de hardware y software instalando el receptor, configurando los collares y registrando el establecimiento.</a:t>
            </a:r>
            <a:endParaRPr lang="es-AR" sz="1600" b="1" dirty="0">
              <a:latin typeface="Montserrat Medium" pitchFamily="2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23BCC040-3439-95FA-4D01-914CC3BDAE9A}"/>
              </a:ext>
            </a:extLst>
          </p:cNvPr>
          <p:cNvSpPr/>
          <p:nvPr/>
        </p:nvSpPr>
        <p:spPr>
          <a:xfrm>
            <a:off x="2053790" y="3720031"/>
            <a:ext cx="9497962" cy="1291534"/>
          </a:xfrm>
          <a:prstGeom prst="roundRect">
            <a:avLst/>
          </a:prstGeom>
          <a:solidFill>
            <a:srgbClr val="125709"/>
          </a:solidFill>
          <a:ln w="38100">
            <a:solidFill>
              <a:srgbClr val="0E460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r>
              <a:rPr lang="es-MX" sz="1600" b="1" dirty="0">
                <a:latin typeface="Montserrat Medium" pitchFamily="2" charset="0"/>
              </a:rPr>
              <a:t>Soporte: </a:t>
            </a:r>
            <a:r>
              <a:rPr lang="es-MX" sz="1600" dirty="0">
                <a:latin typeface="Montserrat Medium" pitchFamily="2" charset="0"/>
              </a:rPr>
              <a:t>Ante cualquier inconveniente que pudiese llegar a surgir o dudas acerca del acceso al sistema de gestión web o para cargar información del ganado. </a:t>
            </a:r>
            <a:endParaRPr lang="es-AR" sz="1600" dirty="0">
              <a:latin typeface="Montserrat Medium" pitchFamily="2" charset="0"/>
            </a:endParaRP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E475BB4E-5415-FEAF-D39F-78CAA0A901CF}"/>
              </a:ext>
            </a:extLst>
          </p:cNvPr>
          <p:cNvSpPr/>
          <p:nvPr/>
        </p:nvSpPr>
        <p:spPr>
          <a:xfrm>
            <a:off x="2045107" y="5399516"/>
            <a:ext cx="9497962" cy="1291534"/>
          </a:xfrm>
          <a:prstGeom prst="roundRect">
            <a:avLst/>
          </a:prstGeom>
          <a:solidFill>
            <a:srgbClr val="125709"/>
          </a:solidFill>
          <a:ln w="38100">
            <a:solidFill>
              <a:srgbClr val="0E460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r>
              <a:rPr lang="es-MX" sz="1600" b="1" dirty="0">
                <a:latin typeface="Montserrat Medium" pitchFamily="2" charset="0"/>
              </a:rPr>
              <a:t>Mantenimiento: </a:t>
            </a:r>
            <a:r>
              <a:rPr lang="es-MX" sz="1600" dirty="0">
                <a:latin typeface="Montserrat Medium" pitchFamily="2" charset="0"/>
              </a:rPr>
              <a:t>En caso necesario y pertinente, se proveerá de reemplazo de collares, mantenimiento o actualizaciones de software o firmware.</a:t>
            </a:r>
            <a:endParaRPr lang="es-AR" sz="1400" dirty="0">
              <a:latin typeface="Montserrat Medium" pitchFamily="2" charset="0"/>
            </a:endParaRP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CAF60B9B-93D8-FE10-51A8-1CA2FDB43CBE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812469" y="2627319"/>
            <a:ext cx="1241321" cy="0"/>
          </a:xfrm>
          <a:prstGeom prst="straightConnector1">
            <a:avLst/>
          </a:prstGeom>
          <a:ln w="44450">
            <a:solidFill>
              <a:srgbClr val="F4711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6027B879-2CFB-C51C-FC6D-BA25577C65B0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812469" y="4365798"/>
            <a:ext cx="1241321" cy="0"/>
          </a:xfrm>
          <a:prstGeom prst="straightConnector1">
            <a:avLst/>
          </a:prstGeom>
          <a:ln w="44450">
            <a:solidFill>
              <a:srgbClr val="F4711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2647573D-5D0C-4C7B-7E9E-F6ADEF041A1E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803786" y="6006738"/>
            <a:ext cx="1241321" cy="0"/>
          </a:xfrm>
          <a:prstGeom prst="straightConnector1">
            <a:avLst/>
          </a:prstGeom>
          <a:ln w="44450">
            <a:solidFill>
              <a:srgbClr val="F4711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3449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D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521039-1600-A4CF-3C42-C0D7798E7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848CC09B-D7CA-2A94-8D4C-1CF3EF781414}"/>
              </a:ext>
            </a:extLst>
          </p:cNvPr>
          <p:cNvCxnSpPr>
            <a:cxnSpLocks/>
          </p:cNvCxnSpPr>
          <p:nvPr/>
        </p:nvCxnSpPr>
        <p:spPr>
          <a:xfrm>
            <a:off x="304800" y="-171000"/>
            <a:ext cx="0" cy="7200000"/>
          </a:xfrm>
          <a:prstGeom prst="line">
            <a:avLst/>
          </a:prstGeom>
          <a:ln w="38100">
            <a:solidFill>
              <a:srgbClr val="EC73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CB1476DB-FDA2-D426-FE36-B62CAD19D9C6}"/>
              </a:ext>
            </a:extLst>
          </p:cNvPr>
          <p:cNvCxnSpPr>
            <a:cxnSpLocks/>
          </p:cNvCxnSpPr>
          <p:nvPr/>
        </p:nvCxnSpPr>
        <p:spPr>
          <a:xfrm>
            <a:off x="457200" y="-171000"/>
            <a:ext cx="0" cy="7200000"/>
          </a:xfrm>
          <a:prstGeom prst="line">
            <a:avLst/>
          </a:prstGeom>
          <a:ln w="38100">
            <a:solidFill>
              <a:srgbClr val="EC73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arcador de texto 24">
            <a:extLst>
              <a:ext uri="{FF2B5EF4-FFF2-40B4-BE49-F238E27FC236}">
                <a16:creationId xmlns:a16="http://schemas.microsoft.com/office/drawing/2014/main" id="{BA6D27A9-9B29-34ED-1B22-D20B2D037F68}"/>
              </a:ext>
            </a:extLst>
          </p:cNvPr>
          <p:cNvSpPr txBox="1">
            <a:spLocks/>
          </p:cNvSpPr>
          <p:nvPr/>
        </p:nvSpPr>
        <p:spPr>
          <a:xfrm>
            <a:off x="801329" y="187629"/>
            <a:ext cx="1591878" cy="1031569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8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  <a:cs typeface="Poppins" panose="00000500000000000000" pitchFamily="2" charset="0"/>
              </a:rPr>
              <a:t>06</a:t>
            </a:r>
          </a:p>
        </p:txBody>
      </p:sp>
      <p:sp>
        <p:nvSpPr>
          <p:cNvPr id="14" name="Título 2">
            <a:extLst>
              <a:ext uri="{FF2B5EF4-FFF2-40B4-BE49-F238E27FC236}">
                <a16:creationId xmlns:a16="http://schemas.microsoft.com/office/drawing/2014/main" id="{F0E9F0EC-0BB3-05B3-AB9A-00FC56B17E94}"/>
              </a:ext>
            </a:extLst>
          </p:cNvPr>
          <p:cNvSpPr txBox="1">
            <a:spLocks/>
          </p:cNvSpPr>
          <p:nvPr/>
        </p:nvSpPr>
        <p:spPr>
          <a:xfrm>
            <a:off x="2206471" y="237364"/>
            <a:ext cx="8057054" cy="9321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" sz="5000" b="1" dirty="0">
                <a:solidFill>
                  <a:srgbClr val="196D29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Canales</a:t>
            </a:r>
          </a:p>
        </p:txBody>
      </p:sp>
      <p:sp>
        <p:nvSpPr>
          <p:cNvPr id="3" name="Google Shape;161;p18">
            <a:extLst>
              <a:ext uri="{FF2B5EF4-FFF2-40B4-BE49-F238E27FC236}">
                <a16:creationId xmlns:a16="http://schemas.microsoft.com/office/drawing/2014/main" id="{70E586EB-45D8-CBFD-79AF-03692C3FCB7C}"/>
              </a:ext>
            </a:extLst>
          </p:cNvPr>
          <p:cNvSpPr/>
          <p:nvPr/>
        </p:nvSpPr>
        <p:spPr>
          <a:xfrm>
            <a:off x="6356400" y="1807110"/>
            <a:ext cx="5378400" cy="540000"/>
          </a:xfrm>
          <a:prstGeom prst="roundRect">
            <a:avLst>
              <a:gd name="adj" fmla="val 16667"/>
            </a:avLst>
          </a:prstGeom>
          <a:solidFill>
            <a:srgbClr val="125709"/>
          </a:solidFill>
          <a:ln w="28575">
            <a:solidFill>
              <a:srgbClr val="0E4607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Página Web</a:t>
            </a:r>
            <a:endParaRPr lang="es-MX" sz="16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" name="Google Shape;162;p18">
            <a:extLst>
              <a:ext uri="{FF2B5EF4-FFF2-40B4-BE49-F238E27FC236}">
                <a16:creationId xmlns:a16="http://schemas.microsoft.com/office/drawing/2014/main" id="{9B6CA8B4-53C9-5F28-038C-4DEEA6E86ED3}"/>
              </a:ext>
            </a:extLst>
          </p:cNvPr>
          <p:cNvSpPr/>
          <p:nvPr/>
        </p:nvSpPr>
        <p:spPr>
          <a:xfrm>
            <a:off x="6356400" y="2544377"/>
            <a:ext cx="5378400" cy="540000"/>
          </a:xfrm>
          <a:prstGeom prst="roundRect">
            <a:avLst>
              <a:gd name="adj" fmla="val 16667"/>
            </a:avLst>
          </a:prstGeom>
          <a:solidFill>
            <a:srgbClr val="125709"/>
          </a:solidFill>
          <a:ln w="28575">
            <a:solidFill>
              <a:srgbClr val="0E4607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20000"/>
              </a:lnSpc>
            </a:pPr>
            <a:r>
              <a:rPr lang="es-MX" sz="1600" b="1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Venta B2B directa</a:t>
            </a:r>
            <a:endParaRPr sz="16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" name="Google Shape;163;p18">
            <a:extLst>
              <a:ext uri="{FF2B5EF4-FFF2-40B4-BE49-F238E27FC236}">
                <a16:creationId xmlns:a16="http://schemas.microsoft.com/office/drawing/2014/main" id="{9D5A1601-026E-B35E-37D1-9B35FCB170ED}"/>
              </a:ext>
            </a:extLst>
          </p:cNvPr>
          <p:cNvSpPr/>
          <p:nvPr/>
        </p:nvSpPr>
        <p:spPr>
          <a:xfrm>
            <a:off x="6356400" y="3281644"/>
            <a:ext cx="5378400" cy="540000"/>
          </a:xfrm>
          <a:prstGeom prst="roundRect">
            <a:avLst>
              <a:gd name="adj" fmla="val 16667"/>
            </a:avLst>
          </a:prstGeom>
          <a:solidFill>
            <a:srgbClr val="125709"/>
          </a:solidFill>
          <a:ln w="28575">
            <a:solidFill>
              <a:srgbClr val="0E4607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20000"/>
              </a:lnSpc>
            </a:pPr>
            <a:r>
              <a:rPr lang="es-MX" sz="1600" b="1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Demostraciones en campo</a:t>
            </a:r>
            <a:endParaRPr sz="16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" name="Google Shape;164;p18">
            <a:extLst>
              <a:ext uri="{FF2B5EF4-FFF2-40B4-BE49-F238E27FC236}">
                <a16:creationId xmlns:a16="http://schemas.microsoft.com/office/drawing/2014/main" id="{C9C98538-471E-AC9A-313B-2EBED8D77E32}"/>
              </a:ext>
            </a:extLst>
          </p:cNvPr>
          <p:cNvSpPr/>
          <p:nvPr/>
        </p:nvSpPr>
        <p:spPr>
          <a:xfrm>
            <a:off x="717600" y="5058906"/>
            <a:ext cx="5378400" cy="540000"/>
          </a:xfrm>
          <a:prstGeom prst="roundRect">
            <a:avLst>
              <a:gd name="adj" fmla="val 16667"/>
            </a:avLst>
          </a:prstGeom>
          <a:solidFill>
            <a:srgbClr val="125709"/>
          </a:solidFill>
          <a:ln w="28575">
            <a:solidFill>
              <a:srgbClr val="0E4607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20000"/>
              </a:lnSpc>
            </a:pPr>
            <a:r>
              <a:rPr lang="es-MX" sz="1600" b="1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Ferias y expos agro</a:t>
            </a:r>
            <a:endParaRPr sz="16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" name="Google Shape;165;p18">
            <a:extLst>
              <a:ext uri="{FF2B5EF4-FFF2-40B4-BE49-F238E27FC236}">
                <a16:creationId xmlns:a16="http://schemas.microsoft.com/office/drawing/2014/main" id="{8F9402CC-A56C-1827-0FB0-B6E4B0980139}"/>
              </a:ext>
            </a:extLst>
          </p:cNvPr>
          <p:cNvSpPr/>
          <p:nvPr/>
        </p:nvSpPr>
        <p:spPr>
          <a:xfrm>
            <a:off x="717600" y="4321639"/>
            <a:ext cx="5378400" cy="540000"/>
          </a:xfrm>
          <a:prstGeom prst="roundRect">
            <a:avLst>
              <a:gd name="adj" fmla="val 16667"/>
            </a:avLst>
          </a:prstGeom>
          <a:solidFill>
            <a:srgbClr val="125709"/>
          </a:solidFill>
          <a:ln w="28575">
            <a:solidFill>
              <a:srgbClr val="0E4607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20000"/>
              </a:lnSpc>
            </a:pPr>
            <a:r>
              <a:rPr lang="es-MX" sz="1600" b="1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Redes Sociales - WhatsApp</a:t>
            </a:r>
            <a:endParaRPr sz="16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" name="Google Shape;164;p18">
            <a:extLst>
              <a:ext uri="{FF2B5EF4-FFF2-40B4-BE49-F238E27FC236}">
                <a16:creationId xmlns:a16="http://schemas.microsoft.com/office/drawing/2014/main" id="{7D83DE11-5A73-FE0F-D4FC-549A150A4BF2}"/>
              </a:ext>
            </a:extLst>
          </p:cNvPr>
          <p:cNvSpPr/>
          <p:nvPr/>
        </p:nvSpPr>
        <p:spPr>
          <a:xfrm>
            <a:off x="717600" y="5796173"/>
            <a:ext cx="5378400" cy="540000"/>
          </a:xfrm>
          <a:prstGeom prst="roundRect">
            <a:avLst>
              <a:gd name="adj" fmla="val 16667"/>
            </a:avLst>
          </a:prstGeom>
          <a:solidFill>
            <a:srgbClr val="125709"/>
          </a:solidFill>
          <a:ln w="28575">
            <a:solidFill>
              <a:srgbClr val="0E4607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20000"/>
              </a:lnSpc>
            </a:pPr>
            <a:r>
              <a:rPr lang="es-MX" sz="1600" b="1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Veterinarios mediante B2B2C</a:t>
            </a:r>
            <a:endParaRPr sz="16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4E0A7EB5-4C00-A316-5903-EFB1A3B79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200" y="1731020"/>
            <a:ext cx="4778401" cy="2166714"/>
          </a:xfrm>
          <a:prstGeom prst="rect">
            <a:avLst/>
          </a:prstGeom>
          <a:ln w="38100">
            <a:solidFill>
              <a:srgbClr val="0E4607"/>
            </a:solidFill>
          </a:ln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43BFE494-B5AD-D51C-6D71-A25D756D1C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587"/>
          <a:stretch>
            <a:fillRect/>
          </a:stretch>
        </p:blipFill>
        <p:spPr>
          <a:xfrm>
            <a:off x="6545221" y="4122691"/>
            <a:ext cx="5000757" cy="2412430"/>
          </a:xfrm>
          <a:prstGeom prst="rect">
            <a:avLst/>
          </a:prstGeom>
          <a:solidFill>
            <a:srgbClr val="125709"/>
          </a:solidFill>
          <a:ln w="38100">
            <a:solidFill>
              <a:srgbClr val="0E4607"/>
            </a:solidFill>
          </a:ln>
        </p:spPr>
      </p:pic>
    </p:spTree>
    <p:extLst>
      <p:ext uri="{BB962C8B-B14F-4D97-AF65-F5344CB8AC3E}">
        <p14:creationId xmlns:p14="http://schemas.microsoft.com/office/powerpoint/2010/main" val="674037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D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9CEA1C-D6A0-24C9-EF99-885EB037D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E1F834E1-456C-758B-B28A-4F5F3F971813}"/>
              </a:ext>
            </a:extLst>
          </p:cNvPr>
          <p:cNvCxnSpPr>
            <a:cxnSpLocks/>
          </p:cNvCxnSpPr>
          <p:nvPr/>
        </p:nvCxnSpPr>
        <p:spPr>
          <a:xfrm>
            <a:off x="304800" y="-171000"/>
            <a:ext cx="0" cy="7200000"/>
          </a:xfrm>
          <a:prstGeom prst="line">
            <a:avLst/>
          </a:prstGeom>
          <a:ln w="38100">
            <a:solidFill>
              <a:srgbClr val="EC73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FF4AC55D-ED4C-1399-50FA-778BC5EA311F}"/>
              </a:ext>
            </a:extLst>
          </p:cNvPr>
          <p:cNvCxnSpPr>
            <a:cxnSpLocks/>
          </p:cNvCxnSpPr>
          <p:nvPr/>
        </p:nvCxnSpPr>
        <p:spPr>
          <a:xfrm>
            <a:off x="457200" y="-171000"/>
            <a:ext cx="0" cy="7200000"/>
          </a:xfrm>
          <a:prstGeom prst="line">
            <a:avLst/>
          </a:prstGeom>
          <a:ln w="38100">
            <a:solidFill>
              <a:srgbClr val="EC73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arcador de texto 24">
            <a:extLst>
              <a:ext uri="{FF2B5EF4-FFF2-40B4-BE49-F238E27FC236}">
                <a16:creationId xmlns:a16="http://schemas.microsoft.com/office/drawing/2014/main" id="{26F0D4C4-C4BC-869A-5BF4-883E2BCE84A0}"/>
              </a:ext>
            </a:extLst>
          </p:cNvPr>
          <p:cNvSpPr txBox="1">
            <a:spLocks/>
          </p:cNvSpPr>
          <p:nvPr/>
        </p:nvSpPr>
        <p:spPr>
          <a:xfrm>
            <a:off x="801329" y="187629"/>
            <a:ext cx="1591878" cy="1031569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8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  <a:cs typeface="Poppins" panose="00000500000000000000" pitchFamily="2" charset="0"/>
              </a:rPr>
              <a:t>07</a:t>
            </a:r>
          </a:p>
        </p:txBody>
      </p:sp>
      <p:sp>
        <p:nvSpPr>
          <p:cNvPr id="14" name="Título 2">
            <a:extLst>
              <a:ext uri="{FF2B5EF4-FFF2-40B4-BE49-F238E27FC236}">
                <a16:creationId xmlns:a16="http://schemas.microsoft.com/office/drawing/2014/main" id="{E512D188-CDAE-CE6E-EA3C-D2A7ADC380E7}"/>
              </a:ext>
            </a:extLst>
          </p:cNvPr>
          <p:cNvSpPr txBox="1">
            <a:spLocks/>
          </p:cNvSpPr>
          <p:nvPr/>
        </p:nvSpPr>
        <p:spPr>
          <a:xfrm>
            <a:off x="2206471" y="237364"/>
            <a:ext cx="8057054" cy="9321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" sz="5000" b="1" dirty="0">
                <a:solidFill>
                  <a:srgbClr val="196D29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Segmentos del Cliente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80A9E1B3-A606-450F-9D56-2F05C60699B1}"/>
              </a:ext>
            </a:extLst>
          </p:cNvPr>
          <p:cNvSpPr/>
          <p:nvPr/>
        </p:nvSpPr>
        <p:spPr>
          <a:xfrm>
            <a:off x="1524000" y="1809133"/>
            <a:ext cx="4424513" cy="1858299"/>
          </a:xfrm>
          <a:prstGeom prst="roundRect">
            <a:avLst>
              <a:gd name="adj" fmla="val 4498"/>
            </a:avLst>
          </a:prstGeom>
          <a:solidFill>
            <a:srgbClr val="125709"/>
          </a:solidFill>
          <a:ln w="28575">
            <a:solidFill>
              <a:srgbClr val="0E460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latin typeface="Montserrat Black" pitchFamily="2" charset="0"/>
              </a:rPr>
              <a:t>PRODUCTORES</a:t>
            </a:r>
          </a:p>
          <a:p>
            <a:pPr algn="ctr"/>
            <a:r>
              <a:rPr lang="es-MX" sz="2400" b="1" dirty="0">
                <a:latin typeface="Montserrat Black" pitchFamily="2" charset="0"/>
              </a:rPr>
              <a:t>GANADEROS</a:t>
            </a:r>
            <a:endParaRPr lang="es-AR" sz="2400" b="1" dirty="0">
              <a:latin typeface="Montserrat Black" pitchFamily="2" charset="0"/>
            </a:endParaRPr>
          </a:p>
        </p:txBody>
      </p:sp>
      <p:pic>
        <p:nvPicPr>
          <p:cNvPr id="17" name="Gráfico 15">
            <a:extLst>
              <a:ext uri="{FF2B5EF4-FFF2-40B4-BE49-F238E27FC236}">
                <a16:creationId xmlns:a16="http://schemas.microsoft.com/office/drawing/2014/main" id="{A64702AF-86A1-4EE5-14BF-B7279C7B725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2287007" y="1725694"/>
            <a:ext cx="2887717" cy="1877692"/>
          </a:xfrm>
          <a:custGeom>
            <a:avLst/>
            <a:gdLst>
              <a:gd name="csX0" fmla="*/ 206 w 4694730"/>
              <a:gd name="csY0" fmla="*/ 109 h 3052674"/>
              <a:gd name="csX1" fmla="*/ 4694936 w 4694730"/>
              <a:gd name="csY1" fmla="*/ 109 h 3052674"/>
              <a:gd name="csX2" fmla="*/ 4694936 w 4694730"/>
              <a:gd name="csY2" fmla="*/ 3052784 h 3052674"/>
              <a:gd name="csX3" fmla="*/ 206 w 4694730"/>
              <a:gd name="csY3" fmla="*/ 3052784 h 3052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694730" h="3052674">
                <a:moveTo>
                  <a:pt x="206" y="109"/>
                </a:moveTo>
                <a:lnTo>
                  <a:pt x="4694936" y="109"/>
                </a:lnTo>
                <a:lnTo>
                  <a:pt x="4694936" y="3052784"/>
                </a:lnTo>
                <a:lnTo>
                  <a:pt x="206" y="3052784"/>
                </a:lnTo>
                <a:close/>
              </a:path>
            </a:pathLst>
          </a:custGeom>
        </p:spPr>
      </p:pic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EA539697-FCD9-0210-E70C-B2FA379DB25E}"/>
              </a:ext>
            </a:extLst>
          </p:cNvPr>
          <p:cNvSpPr/>
          <p:nvPr/>
        </p:nvSpPr>
        <p:spPr>
          <a:xfrm>
            <a:off x="1524000" y="4193321"/>
            <a:ext cx="4424513" cy="1858299"/>
          </a:xfrm>
          <a:prstGeom prst="roundRect">
            <a:avLst>
              <a:gd name="adj" fmla="val 4498"/>
            </a:avLst>
          </a:prstGeom>
          <a:solidFill>
            <a:srgbClr val="125709"/>
          </a:solidFill>
          <a:ln w="28575">
            <a:solidFill>
              <a:srgbClr val="0E460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latin typeface="Montserrat Black" pitchFamily="2" charset="0"/>
              </a:rPr>
              <a:t>VETERINARIOS</a:t>
            </a:r>
            <a:endParaRPr lang="es-AR" sz="2400" b="1" dirty="0">
              <a:latin typeface="Montserrat Black" pitchFamily="2" charset="0"/>
            </a:endParaRPr>
          </a:p>
        </p:txBody>
      </p:sp>
      <p:pic>
        <p:nvPicPr>
          <p:cNvPr id="29" name="Gráfico 15">
            <a:extLst>
              <a:ext uri="{FF2B5EF4-FFF2-40B4-BE49-F238E27FC236}">
                <a16:creationId xmlns:a16="http://schemas.microsoft.com/office/drawing/2014/main" id="{9849F955-7376-D23B-8A66-AA01C67F2ED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2287007" y="4109882"/>
            <a:ext cx="2887717" cy="1877692"/>
          </a:xfrm>
          <a:custGeom>
            <a:avLst/>
            <a:gdLst>
              <a:gd name="csX0" fmla="*/ 206 w 4694730"/>
              <a:gd name="csY0" fmla="*/ 109 h 3052674"/>
              <a:gd name="csX1" fmla="*/ 4694936 w 4694730"/>
              <a:gd name="csY1" fmla="*/ 109 h 3052674"/>
              <a:gd name="csX2" fmla="*/ 4694936 w 4694730"/>
              <a:gd name="csY2" fmla="*/ 3052784 h 3052674"/>
              <a:gd name="csX3" fmla="*/ 206 w 4694730"/>
              <a:gd name="csY3" fmla="*/ 3052784 h 3052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694730" h="3052674">
                <a:moveTo>
                  <a:pt x="206" y="109"/>
                </a:moveTo>
                <a:lnTo>
                  <a:pt x="4694936" y="109"/>
                </a:lnTo>
                <a:lnTo>
                  <a:pt x="4694936" y="3052784"/>
                </a:lnTo>
                <a:lnTo>
                  <a:pt x="206" y="3052784"/>
                </a:lnTo>
                <a:close/>
              </a:path>
            </a:pathLst>
          </a:custGeom>
        </p:spPr>
      </p:pic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B565FC6D-8058-E218-3240-2ED02826BC1F}"/>
              </a:ext>
            </a:extLst>
          </p:cNvPr>
          <p:cNvSpPr/>
          <p:nvPr/>
        </p:nvSpPr>
        <p:spPr>
          <a:xfrm>
            <a:off x="6534143" y="1809133"/>
            <a:ext cx="4424513" cy="1858299"/>
          </a:xfrm>
          <a:prstGeom prst="roundRect">
            <a:avLst>
              <a:gd name="adj" fmla="val 4498"/>
            </a:avLst>
          </a:prstGeom>
          <a:solidFill>
            <a:srgbClr val="125709"/>
          </a:solidFill>
          <a:ln w="28575">
            <a:solidFill>
              <a:srgbClr val="0E460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latin typeface="Montserrat Black" pitchFamily="2" charset="0"/>
              </a:rPr>
              <a:t>FEEDLOTS</a:t>
            </a:r>
            <a:endParaRPr lang="es-AR" sz="2400" b="1" dirty="0">
              <a:latin typeface="Montserrat Black" pitchFamily="2" charset="0"/>
            </a:endParaRPr>
          </a:p>
        </p:txBody>
      </p:sp>
      <p:pic>
        <p:nvPicPr>
          <p:cNvPr id="33" name="Gráfico 15">
            <a:extLst>
              <a:ext uri="{FF2B5EF4-FFF2-40B4-BE49-F238E27FC236}">
                <a16:creationId xmlns:a16="http://schemas.microsoft.com/office/drawing/2014/main" id="{8A7C8FB6-CEA1-A8B2-45F7-67F3CBD3E53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7297150" y="1725694"/>
            <a:ext cx="2887717" cy="1877692"/>
          </a:xfrm>
          <a:custGeom>
            <a:avLst/>
            <a:gdLst>
              <a:gd name="csX0" fmla="*/ 206 w 4694730"/>
              <a:gd name="csY0" fmla="*/ 109 h 3052674"/>
              <a:gd name="csX1" fmla="*/ 4694936 w 4694730"/>
              <a:gd name="csY1" fmla="*/ 109 h 3052674"/>
              <a:gd name="csX2" fmla="*/ 4694936 w 4694730"/>
              <a:gd name="csY2" fmla="*/ 3052784 h 3052674"/>
              <a:gd name="csX3" fmla="*/ 206 w 4694730"/>
              <a:gd name="csY3" fmla="*/ 3052784 h 3052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694730" h="3052674">
                <a:moveTo>
                  <a:pt x="206" y="109"/>
                </a:moveTo>
                <a:lnTo>
                  <a:pt x="4694936" y="109"/>
                </a:lnTo>
                <a:lnTo>
                  <a:pt x="4694936" y="3052784"/>
                </a:lnTo>
                <a:lnTo>
                  <a:pt x="206" y="3052784"/>
                </a:lnTo>
                <a:close/>
              </a:path>
            </a:pathLst>
          </a:custGeom>
        </p:spPr>
      </p:pic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0BFE09D3-87CE-3844-9100-947534ECD097}"/>
              </a:ext>
            </a:extLst>
          </p:cNvPr>
          <p:cNvSpPr/>
          <p:nvPr/>
        </p:nvSpPr>
        <p:spPr>
          <a:xfrm>
            <a:off x="6534143" y="4129411"/>
            <a:ext cx="4424513" cy="1858299"/>
          </a:xfrm>
          <a:prstGeom prst="roundRect">
            <a:avLst>
              <a:gd name="adj" fmla="val 4498"/>
            </a:avLst>
          </a:prstGeom>
          <a:solidFill>
            <a:srgbClr val="125709"/>
          </a:solidFill>
          <a:ln w="28575">
            <a:solidFill>
              <a:srgbClr val="0E460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latin typeface="Montserrat Black" pitchFamily="2" charset="0"/>
              </a:rPr>
              <a:t>ESTABLECIMIENTOS</a:t>
            </a:r>
          </a:p>
          <a:p>
            <a:pPr algn="ctr"/>
            <a:r>
              <a:rPr lang="es-MX" sz="2400" b="1" dirty="0">
                <a:latin typeface="Montserrat Black" pitchFamily="2" charset="0"/>
              </a:rPr>
              <a:t>AGRO TECNOLOGICOS</a:t>
            </a:r>
            <a:endParaRPr lang="es-AR" sz="2400" b="1" dirty="0">
              <a:latin typeface="Montserrat Black" pitchFamily="2" charset="0"/>
            </a:endParaRPr>
          </a:p>
        </p:txBody>
      </p:sp>
      <p:pic>
        <p:nvPicPr>
          <p:cNvPr id="37" name="Gráfico 15">
            <a:extLst>
              <a:ext uri="{FF2B5EF4-FFF2-40B4-BE49-F238E27FC236}">
                <a16:creationId xmlns:a16="http://schemas.microsoft.com/office/drawing/2014/main" id="{11D3CCBD-2547-D7FC-D1CA-49A5183EE58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7297150" y="4045972"/>
            <a:ext cx="2887717" cy="1877692"/>
          </a:xfrm>
          <a:custGeom>
            <a:avLst/>
            <a:gdLst>
              <a:gd name="csX0" fmla="*/ 206 w 4694730"/>
              <a:gd name="csY0" fmla="*/ 109 h 3052674"/>
              <a:gd name="csX1" fmla="*/ 4694936 w 4694730"/>
              <a:gd name="csY1" fmla="*/ 109 h 3052674"/>
              <a:gd name="csX2" fmla="*/ 4694936 w 4694730"/>
              <a:gd name="csY2" fmla="*/ 3052784 h 3052674"/>
              <a:gd name="csX3" fmla="*/ 206 w 4694730"/>
              <a:gd name="csY3" fmla="*/ 3052784 h 3052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694730" h="3052674">
                <a:moveTo>
                  <a:pt x="206" y="109"/>
                </a:moveTo>
                <a:lnTo>
                  <a:pt x="4694936" y="109"/>
                </a:lnTo>
                <a:lnTo>
                  <a:pt x="4694936" y="3052784"/>
                </a:lnTo>
                <a:lnTo>
                  <a:pt x="206" y="305278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73701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D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2D82EA-9AF2-ECCD-558E-521095E28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13C05121-6D8F-694E-FD9E-DA0C82F661C0}"/>
              </a:ext>
            </a:extLst>
          </p:cNvPr>
          <p:cNvCxnSpPr>
            <a:cxnSpLocks/>
          </p:cNvCxnSpPr>
          <p:nvPr/>
        </p:nvCxnSpPr>
        <p:spPr>
          <a:xfrm>
            <a:off x="304800" y="-171000"/>
            <a:ext cx="0" cy="7200000"/>
          </a:xfrm>
          <a:prstGeom prst="line">
            <a:avLst/>
          </a:prstGeom>
          <a:ln w="38100">
            <a:solidFill>
              <a:srgbClr val="EC73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A5C4B28A-F078-7354-676D-7696B55D714E}"/>
              </a:ext>
            </a:extLst>
          </p:cNvPr>
          <p:cNvCxnSpPr>
            <a:cxnSpLocks/>
          </p:cNvCxnSpPr>
          <p:nvPr/>
        </p:nvCxnSpPr>
        <p:spPr>
          <a:xfrm>
            <a:off x="457200" y="-171000"/>
            <a:ext cx="0" cy="7200000"/>
          </a:xfrm>
          <a:prstGeom prst="line">
            <a:avLst/>
          </a:prstGeom>
          <a:ln w="38100">
            <a:solidFill>
              <a:srgbClr val="EC73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arcador de texto 24">
            <a:extLst>
              <a:ext uri="{FF2B5EF4-FFF2-40B4-BE49-F238E27FC236}">
                <a16:creationId xmlns:a16="http://schemas.microsoft.com/office/drawing/2014/main" id="{3DCA10E0-E1E7-E81E-33E2-9EA69E23EE8E}"/>
              </a:ext>
            </a:extLst>
          </p:cNvPr>
          <p:cNvSpPr txBox="1">
            <a:spLocks/>
          </p:cNvSpPr>
          <p:nvPr/>
        </p:nvSpPr>
        <p:spPr>
          <a:xfrm>
            <a:off x="801329" y="187629"/>
            <a:ext cx="1591878" cy="1031569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8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  <a:cs typeface="Poppins" panose="00000500000000000000" pitchFamily="2" charset="0"/>
              </a:rPr>
              <a:t>08</a:t>
            </a:r>
          </a:p>
        </p:txBody>
      </p:sp>
      <p:sp>
        <p:nvSpPr>
          <p:cNvPr id="14" name="Título 2">
            <a:extLst>
              <a:ext uri="{FF2B5EF4-FFF2-40B4-BE49-F238E27FC236}">
                <a16:creationId xmlns:a16="http://schemas.microsoft.com/office/drawing/2014/main" id="{A74C28F4-11F3-3AE2-A7D4-761923563154}"/>
              </a:ext>
            </a:extLst>
          </p:cNvPr>
          <p:cNvSpPr txBox="1">
            <a:spLocks/>
          </p:cNvSpPr>
          <p:nvPr/>
        </p:nvSpPr>
        <p:spPr>
          <a:xfrm>
            <a:off x="2206471" y="237364"/>
            <a:ext cx="8057054" cy="9321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" sz="5000" b="1" dirty="0">
                <a:solidFill>
                  <a:srgbClr val="196D29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Estructura de Costos</a:t>
            </a:r>
          </a:p>
        </p:txBody>
      </p:sp>
      <p:sp>
        <p:nvSpPr>
          <p:cNvPr id="3" name="Google Shape;161;p18">
            <a:extLst>
              <a:ext uri="{FF2B5EF4-FFF2-40B4-BE49-F238E27FC236}">
                <a16:creationId xmlns:a16="http://schemas.microsoft.com/office/drawing/2014/main" id="{516C231D-B4DD-434A-9DA5-F8B756CFAB7A}"/>
              </a:ext>
            </a:extLst>
          </p:cNvPr>
          <p:cNvSpPr/>
          <p:nvPr/>
        </p:nvSpPr>
        <p:spPr>
          <a:xfrm>
            <a:off x="1810400" y="2312825"/>
            <a:ext cx="5378400" cy="504788"/>
          </a:xfrm>
          <a:prstGeom prst="roundRect">
            <a:avLst>
              <a:gd name="adj" fmla="val 16667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Costos de un AgroNeck</a:t>
            </a:r>
            <a:endParaRPr lang="es-MX" sz="160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" name="Google Shape;161;p18">
            <a:extLst>
              <a:ext uri="{FF2B5EF4-FFF2-40B4-BE49-F238E27FC236}">
                <a16:creationId xmlns:a16="http://schemas.microsoft.com/office/drawing/2014/main" id="{3E408C48-AC99-5B7B-BDE8-5DBD79CFA511}"/>
              </a:ext>
            </a:extLst>
          </p:cNvPr>
          <p:cNvSpPr/>
          <p:nvPr/>
        </p:nvSpPr>
        <p:spPr>
          <a:xfrm>
            <a:off x="1826262" y="2958737"/>
            <a:ext cx="5378400" cy="504788"/>
          </a:xfrm>
          <a:prstGeom prst="roundRect">
            <a:avLst>
              <a:gd name="adj" fmla="val 16667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Costo del AgroBot</a:t>
            </a:r>
            <a:endParaRPr lang="es-MX" sz="16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" name="Google Shape;161;p18">
            <a:extLst>
              <a:ext uri="{FF2B5EF4-FFF2-40B4-BE49-F238E27FC236}">
                <a16:creationId xmlns:a16="http://schemas.microsoft.com/office/drawing/2014/main" id="{9580F452-B87E-38A1-7AC4-91DE9D1900D6}"/>
              </a:ext>
            </a:extLst>
          </p:cNvPr>
          <p:cNvSpPr/>
          <p:nvPr/>
        </p:nvSpPr>
        <p:spPr>
          <a:xfrm>
            <a:off x="1818331" y="3604649"/>
            <a:ext cx="5378400" cy="530122"/>
          </a:xfrm>
          <a:prstGeom prst="roundRect">
            <a:avLst>
              <a:gd name="adj" fmla="val 16667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Costos de Instalación</a:t>
            </a:r>
          </a:p>
        </p:txBody>
      </p:sp>
      <p:sp>
        <p:nvSpPr>
          <p:cNvPr id="15" name="Google Shape;161;p18">
            <a:extLst>
              <a:ext uri="{FF2B5EF4-FFF2-40B4-BE49-F238E27FC236}">
                <a16:creationId xmlns:a16="http://schemas.microsoft.com/office/drawing/2014/main" id="{EB324A2A-8885-7F8A-8D0A-BA9C4B13FF44}"/>
              </a:ext>
            </a:extLst>
          </p:cNvPr>
          <p:cNvSpPr/>
          <p:nvPr/>
        </p:nvSpPr>
        <p:spPr>
          <a:xfrm>
            <a:off x="3903329" y="4382911"/>
            <a:ext cx="5378400" cy="672690"/>
          </a:xfrm>
          <a:prstGeom prst="roundRect">
            <a:avLst>
              <a:gd name="adj" fmla="val 16667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 dirty="0">
                <a:solidFill>
                  <a:schemeClr val="lt1"/>
                </a:solidFill>
                <a:latin typeface="Montserrat Black" pitchFamily="2" charset="0"/>
                <a:ea typeface="Montserrat Medium"/>
                <a:cs typeface="Montserrat Medium"/>
                <a:sym typeface="Montserrat Medium"/>
              </a:rPr>
              <a:t>MENSUALMENTE</a:t>
            </a:r>
          </a:p>
        </p:txBody>
      </p:sp>
      <p:sp>
        <p:nvSpPr>
          <p:cNvPr id="17" name="Google Shape;161;p18">
            <a:extLst>
              <a:ext uri="{FF2B5EF4-FFF2-40B4-BE49-F238E27FC236}">
                <a16:creationId xmlns:a16="http://schemas.microsoft.com/office/drawing/2014/main" id="{B57D3CF8-32FC-87D3-B947-427F8C3F7478}"/>
              </a:ext>
            </a:extLst>
          </p:cNvPr>
          <p:cNvSpPr/>
          <p:nvPr/>
        </p:nvSpPr>
        <p:spPr>
          <a:xfrm>
            <a:off x="4499600" y="6872244"/>
            <a:ext cx="5378400" cy="672690"/>
          </a:xfrm>
          <a:prstGeom prst="roundRect">
            <a:avLst>
              <a:gd name="adj" fmla="val 16667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Monitoreo: </a:t>
            </a:r>
            <a:r>
              <a:rPr lang="es-MX" sz="1600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Comportamiento y patrones.</a:t>
            </a:r>
            <a:endParaRPr lang="es-MX" sz="1600" b="1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" name="Google Shape;161;p18">
            <a:extLst>
              <a:ext uri="{FF2B5EF4-FFF2-40B4-BE49-F238E27FC236}">
                <a16:creationId xmlns:a16="http://schemas.microsoft.com/office/drawing/2014/main" id="{6F796530-7DBB-223B-D548-E61986A63E61}"/>
              </a:ext>
            </a:extLst>
          </p:cNvPr>
          <p:cNvSpPr/>
          <p:nvPr/>
        </p:nvSpPr>
        <p:spPr>
          <a:xfrm>
            <a:off x="1810400" y="5327574"/>
            <a:ext cx="5378400" cy="504788"/>
          </a:xfrm>
          <a:prstGeom prst="roundRect">
            <a:avLst>
              <a:gd name="adj" fmla="val 16667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Posible Mantenimiento</a:t>
            </a:r>
            <a:endParaRPr lang="es-MX" sz="16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" name="Google Shape;161;p18">
            <a:extLst>
              <a:ext uri="{FF2B5EF4-FFF2-40B4-BE49-F238E27FC236}">
                <a16:creationId xmlns:a16="http://schemas.microsoft.com/office/drawing/2014/main" id="{ABACF529-0496-EEF9-D651-83F12F2D7725}"/>
              </a:ext>
            </a:extLst>
          </p:cNvPr>
          <p:cNvSpPr/>
          <p:nvPr/>
        </p:nvSpPr>
        <p:spPr>
          <a:xfrm>
            <a:off x="1810400" y="5976432"/>
            <a:ext cx="5378400" cy="530122"/>
          </a:xfrm>
          <a:prstGeom prst="roundRect">
            <a:avLst>
              <a:gd name="adj" fmla="val 16667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Almacenamiento en Nube </a:t>
            </a:r>
            <a:r>
              <a:rPr lang="es-MX" sz="16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(OPCIONAL)</a:t>
            </a:r>
            <a:endParaRPr lang="es-MX" sz="160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3" name="Google Shape;161;p18">
            <a:extLst>
              <a:ext uri="{FF2B5EF4-FFF2-40B4-BE49-F238E27FC236}">
                <a16:creationId xmlns:a16="http://schemas.microsoft.com/office/drawing/2014/main" id="{CCA7F566-4B0D-5302-35E5-60772B08E092}"/>
              </a:ext>
            </a:extLst>
          </p:cNvPr>
          <p:cNvSpPr/>
          <p:nvPr/>
        </p:nvSpPr>
        <p:spPr>
          <a:xfrm>
            <a:off x="3903329" y="1388527"/>
            <a:ext cx="5378400" cy="672690"/>
          </a:xfrm>
          <a:prstGeom prst="roundRect">
            <a:avLst>
              <a:gd name="adj" fmla="val 16667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 dirty="0">
                <a:solidFill>
                  <a:schemeClr val="lt1"/>
                </a:solidFill>
                <a:latin typeface="Montserrat Black" pitchFamily="2" charset="0"/>
                <a:ea typeface="Montserrat Medium"/>
                <a:cs typeface="Montserrat Medium"/>
                <a:sym typeface="Montserrat Medium"/>
              </a:rPr>
              <a:t>INVERSIÓN INICIAL</a:t>
            </a:r>
          </a:p>
        </p:txBody>
      </p:sp>
      <p:sp>
        <p:nvSpPr>
          <p:cNvPr id="35" name="Google Shape;161;p18">
            <a:extLst>
              <a:ext uri="{FF2B5EF4-FFF2-40B4-BE49-F238E27FC236}">
                <a16:creationId xmlns:a16="http://schemas.microsoft.com/office/drawing/2014/main" id="{6E7FFFD3-6FF2-38B8-20F5-90D55C6DDFAB}"/>
              </a:ext>
            </a:extLst>
          </p:cNvPr>
          <p:cNvSpPr/>
          <p:nvPr/>
        </p:nvSpPr>
        <p:spPr>
          <a:xfrm>
            <a:off x="7574325" y="2312825"/>
            <a:ext cx="2228436" cy="504788"/>
          </a:xfrm>
          <a:prstGeom prst="roundRect">
            <a:avLst>
              <a:gd name="adj" fmla="val 16667"/>
            </a:avLst>
          </a:prstGeom>
          <a:solidFill>
            <a:srgbClr val="EC7320"/>
          </a:solidFill>
          <a:ln w="19050">
            <a:solidFill>
              <a:srgbClr val="0E4607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103,14 USD</a:t>
            </a:r>
            <a:endParaRPr lang="es-MX" sz="160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7" name="Google Shape;161;p18">
            <a:extLst>
              <a:ext uri="{FF2B5EF4-FFF2-40B4-BE49-F238E27FC236}">
                <a16:creationId xmlns:a16="http://schemas.microsoft.com/office/drawing/2014/main" id="{B3023074-F9D9-DB2A-E103-E8FA0C926EFC}"/>
              </a:ext>
            </a:extLst>
          </p:cNvPr>
          <p:cNvSpPr/>
          <p:nvPr/>
        </p:nvSpPr>
        <p:spPr>
          <a:xfrm>
            <a:off x="7574325" y="2958737"/>
            <a:ext cx="2228436" cy="504788"/>
          </a:xfrm>
          <a:prstGeom prst="roundRect">
            <a:avLst>
              <a:gd name="adj" fmla="val 16667"/>
            </a:avLst>
          </a:prstGeom>
          <a:solidFill>
            <a:srgbClr val="EC7320"/>
          </a:solidFill>
          <a:ln w="19050">
            <a:solidFill>
              <a:srgbClr val="0E4607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94,18 USD</a:t>
            </a:r>
            <a:endParaRPr lang="es-MX" sz="160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9" name="Google Shape;161;p18">
            <a:extLst>
              <a:ext uri="{FF2B5EF4-FFF2-40B4-BE49-F238E27FC236}">
                <a16:creationId xmlns:a16="http://schemas.microsoft.com/office/drawing/2014/main" id="{E84A6A53-9B33-6083-B2AA-434FFC491105}"/>
              </a:ext>
            </a:extLst>
          </p:cNvPr>
          <p:cNvSpPr/>
          <p:nvPr/>
        </p:nvSpPr>
        <p:spPr>
          <a:xfrm>
            <a:off x="7574325" y="3604649"/>
            <a:ext cx="2228436" cy="504788"/>
          </a:xfrm>
          <a:prstGeom prst="roundRect">
            <a:avLst>
              <a:gd name="adj" fmla="val 16667"/>
            </a:avLst>
          </a:prstGeom>
          <a:solidFill>
            <a:srgbClr val="EC7320"/>
          </a:solidFill>
          <a:ln w="19050">
            <a:solidFill>
              <a:srgbClr val="0E4607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400 USD</a:t>
            </a:r>
            <a:endParaRPr lang="es-MX" sz="160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1" name="Google Shape;161;p18">
            <a:extLst>
              <a:ext uri="{FF2B5EF4-FFF2-40B4-BE49-F238E27FC236}">
                <a16:creationId xmlns:a16="http://schemas.microsoft.com/office/drawing/2014/main" id="{C85F36F2-CB4F-2CA5-4B7C-3C3F8D62904E}"/>
              </a:ext>
            </a:extLst>
          </p:cNvPr>
          <p:cNvSpPr/>
          <p:nvPr/>
        </p:nvSpPr>
        <p:spPr>
          <a:xfrm>
            <a:off x="7649564" y="5325347"/>
            <a:ext cx="2228436" cy="504788"/>
          </a:xfrm>
          <a:prstGeom prst="roundRect">
            <a:avLst>
              <a:gd name="adj" fmla="val 16667"/>
            </a:avLst>
          </a:prstGeom>
          <a:solidFill>
            <a:srgbClr val="EC7320"/>
          </a:solidFill>
          <a:ln w="19050">
            <a:solidFill>
              <a:srgbClr val="0E4607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200 USD</a:t>
            </a:r>
            <a:endParaRPr lang="es-MX" sz="160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3" name="Google Shape;161;p18">
            <a:extLst>
              <a:ext uri="{FF2B5EF4-FFF2-40B4-BE49-F238E27FC236}">
                <a16:creationId xmlns:a16="http://schemas.microsoft.com/office/drawing/2014/main" id="{14C15725-D98E-E724-FBF9-8FA720D91830}"/>
              </a:ext>
            </a:extLst>
          </p:cNvPr>
          <p:cNvSpPr/>
          <p:nvPr/>
        </p:nvSpPr>
        <p:spPr>
          <a:xfrm>
            <a:off x="7649564" y="5987689"/>
            <a:ext cx="2228436" cy="504788"/>
          </a:xfrm>
          <a:prstGeom prst="roundRect">
            <a:avLst>
              <a:gd name="adj" fmla="val 16667"/>
            </a:avLst>
          </a:prstGeom>
          <a:solidFill>
            <a:srgbClr val="EC7320"/>
          </a:solidFill>
          <a:ln w="19050">
            <a:solidFill>
              <a:srgbClr val="0E4607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10 USD</a:t>
            </a:r>
            <a:endParaRPr lang="es-MX" sz="160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4180735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D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55915E-AFF8-9029-508E-A30786A90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6BB5167F-A22F-16BB-168B-F8937E2E5525}"/>
              </a:ext>
            </a:extLst>
          </p:cNvPr>
          <p:cNvCxnSpPr>
            <a:cxnSpLocks/>
          </p:cNvCxnSpPr>
          <p:nvPr/>
        </p:nvCxnSpPr>
        <p:spPr>
          <a:xfrm>
            <a:off x="304800" y="-171000"/>
            <a:ext cx="0" cy="7200000"/>
          </a:xfrm>
          <a:prstGeom prst="line">
            <a:avLst/>
          </a:prstGeom>
          <a:ln w="38100">
            <a:solidFill>
              <a:srgbClr val="EC73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F88E1857-69FF-429D-C710-95D084ECBB60}"/>
              </a:ext>
            </a:extLst>
          </p:cNvPr>
          <p:cNvCxnSpPr>
            <a:cxnSpLocks/>
          </p:cNvCxnSpPr>
          <p:nvPr/>
        </p:nvCxnSpPr>
        <p:spPr>
          <a:xfrm>
            <a:off x="457200" y="-171000"/>
            <a:ext cx="0" cy="7200000"/>
          </a:xfrm>
          <a:prstGeom prst="line">
            <a:avLst/>
          </a:prstGeom>
          <a:ln w="38100">
            <a:solidFill>
              <a:srgbClr val="EC73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arcador de texto 24">
            <a:extLst>
              <a:ext uri="{FF2B5EF4-FFF2-40B4-BE49-F238E27FC236}">
                <a16:creationId xmlns:a16="http://schemas.microsoft.com/office/drawing/2014/main" id="{E2994482-6C20-2F8A-AF46-E9DBFD342E1E}"/>
              </a:ext>
            </a:extLst>
          </p:cNvPr>
          <p:cNvSpPr txBox="1">
            <a:spLocks/>
          </p:cNvSpPr>
          <p:nvPr/>
        </p:nvSpPr>
        <p:spPr>
          <a:xfrm>
            <a:off x="801329" y="187629"/>
            <a:ext cx="1591878" cy="1031569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8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  <a:cs typeface="Poppins" panose="00000500000000000000" pitchFamily="2" charset="0"/>
              </a:rPr>
              <a:t>09</a:t>
            </a:r>
          </a:p>
        </p:txBody>
      </p:sp>
      <p:sp>
        <p:nvSpPr>
          <p:cNvPr id="14" name="Título 2">
            <a:extLst>
              <a:ext uri="{FF2B5EF4-FFF2-40B4-BE49-F238E27FC236}">
                <a16:creationId xmlns:a16="http://schemas.microsoft.com/office/drawing/2014/main" id="{FEF8198D-9ECA-FB39-3EC5-69F5F2819BD0}"/>
              </a:ext>
            </a:extLst>
          </p:cNvPr>
          <p:cNvSpPr txBox="1">
            <a:spLocks/>
          </p:cNvSpPr>
          <p:nvPr/>
        </p:nvSpPr>
        <p:spPr>
          <a:xfrm>
            <a:off x="2206471" y="237364"/>
            <a:ext cx="8057054" cy="9321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" sz="5000" b="1" dirty="0">
                <a:solidFill>
                  <a:srgbClr val="196D29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Fuentes de Ingresos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BC05EBFF-BFEB-AA85-EA1C-01935396C86E}"/>
              </a:ext>
            </a:extLst>
          </p:cNvPr>
          <p:cNvSpPr/>
          <p:nvPr/>
        </p:nvSpPr>
        <p:spPr>
          <a:xfrm>
            <a:off x="1990084" y="1645650"/>
            <a:ext cx="8451774" cy="1376516"/>
          </a:xfrm>
          <a:prstGeom prst="roundRect">
            <a:avLst/>
          </a:prstGeom>
          <a:solidFill>
            <a:srgbClr val="125709"/>
          </a:solidFill>
          <a:ln w="38100">
            <a:solidFill>
              <a:srgbClr val="0E460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r>
              <a:rPr lang="es-MX" sz="3600" b="1" dirty="0">
                <a:latin typeface="Montserrat Black" pitchFamily="2" charset="0"/>
              </a:rPr>
              <a:t>VENTA DE HARDWARE</a:t>
            </a:r>
          </a:p>
          <a:p>
            <a:pPr algn="ctr"/>
            <a:r>
              <a:rPr lang="es-MX" sz="1600" b="1" dirty="0">
                <a:latin typeface="Montserrat Medium" pitchFamily="2" charset="0"/>
              </a:rPr>
              <a:t>Collares AgroNecks y Estación de Recepción AgroBot</a:t>
            </a:r>
            <a:endParaRPr lang="es-AR" sz="1600" b="1" dirty="0">
              <a:latin typeface="Montserrat Medium" pitchFamily="2" charset="0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FFC09BC5-957C-C0A2-92DE-1622C3F89950}"/>
              </a:ext>
            </a:extLst>
          </p:cNvPr>
          <p:cNvSpPr/>
          <p:nvPr/>
        </p:nvSpPr>
        <p:spPr>
          <a:xfrm>
            <a:off x="1990084" y="3384129"/>
            <a:ext cx="8451774" cy="1376516"/>
          </a:xfrm>
          <a:prstGeom prst="roundRect">
            <a:avLst/>
          </a:prstGeom>
          <a:solidFill>
            <a:srgbClr val="125709"/>
          </a:solidFill>
          <a:ln w="38100">
            <a:solidFill>
              <a:srgbClr val="0E460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r>
              <a:rPr lang="es-MX" sz="3600" b="1" dirty="0">
                <a:latin typeface="Montserrat Black" pitchFamily="2" charset="0"/>
              </a:rPr>
              <a:t>INSTALACION + GARANTIA</a:t>
            </a:r>
          </a:p>
          <a:p>
            <a:pPr algn="ctr"/>
            <a:r>
              <a:rPr lang="es-MX" sz="1600" b="1" dirty="0">
                <a:latin typeface="Montserrat Medium" pitchFamily="2" charset="0"/>
              </a:rPr>
              <a:t>Trabajo de instalación y configuración con garantía incluida</a:t>
            </a:r>
            <a:endParaRPr lang="es-AR" sz="1600" b="1" dirty="0">
              <a:latin typeface="Montserrat Medium" pitchFamily="2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0E20B4F6-4B0B-160B-01F4-DA80583E8FC3}"/>
              </a:ext>
            </a:extLst>
          </p:cNvPr>
          <p:cNvSpPr/>
          <p:nvPr/>
        </p:nvSpPr>
        <p:spPr>
          <a:xfrm>
            <a:off x="1990084" y="5063614"/>
            <a:ext cx="8451774" cy="1376516"/>
          </a:xfrm>
          <a:prstGeom prst="roundRect">
            <a:avLst/>
          </a:prstGeom>
          <a:solidFill>
            <a:srgbClr val="125709"/>
          </a:solidFill>
          <a:ln w="38100">
            <a:solidFill>
              <a:srgbClr val="0E460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r>
              <a:rPr lang="es-MX" sz="3600" b="1" dirty="0">
                <a:latin typeface="Montserrat Black" pitchFamily="2" charset="0"/>
              </a:rPr>
              <a:t>SUSCR. MENSUAL Y CLOUD</a:t>
            </a:r>
          </a:p>
          <a:p>
            <a:pPr algn="ctr"/>
            <a:r>
              <a:rPr lang="es-MX" sz="1600" b="1" dirty="0">
                <a:latin typeface="Montserrat Medium" pitchFamily="2" charset="0"/>
              </a:rPr>
              <a:t>Opcional para el usuario, almacenamiento de datos históricos</a:t>
            </a:r>
            <a:endParaRPr lang="es-AR" sz="1600" b="1" dirty="0">
              <a:latin typeface="Montserrat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019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42C73-22C6-5AB4-9403-4428C711E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nsive farming: The plight of factory farmed dairy cows and their calves">
            <a:extLst>
              <a:ext uri="{FF2B5EF4-FFF2-40B4-BE49-F238E27FC236}">
                <a16:creationId xmlns:a16="http://schemas.microsoft.com/office/drawing/2014/main" id="{EF0C4AC0-3B9A-7A5E-644C-F372744F7B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91206DE8-1E3F-0D94-4713-CBED785910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4607">
              <a:alpha val="9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4" name="Marcador de texto 17">
            <a:extLst>
              <a:ext uri="{FF2B5EF4-FFF2-40B4-BE49-F238E27FC236}">
                <a16:creationId xmlns:a16="http://schemas.microsoft.com/office/drawing/2014/main" id="{B2FB7F1D-C963-E44E-A365-F39168C23C0B}"/>
              </a:ext>
            </a:extLst>
          </p:cNvPr>
          <p:cNvSpPr txBox="1">
            <a:spLocks/>
          </p:cNvSpPr>
          <p:nvPr/>
        </p:nvSpPr>
        <p:spPr>
          <a:xfrm>
            <a:off x="1261777" y="356435"/>
            <a:ext cx="9473860" cy="2987308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base">
              <a:lnSpc>
                <a:spcPct val="150000"/>
              </a:lnSpc>
              <a:buNone/>
            </a:pPr>
            <a:r>
              <a:rPr lang="es-MX" sz="13800" b="1" dirty="0">
                <a:solidFill>
                  <a:schemeClr val="bg1"/>
                </a:solidFill>
                <a:latin typeface="Montserrat Black" pitchFamily="2" charset="0"/>
                <a:cs typeface="Poppins" panose="00000500000000000000" pitchFamily="2" charset="0"/>
              </a:rPr>
              <a:t>GRACIAS</a:t>
            </a:r>
            <a:endParaRPr lang="es-AR" sz="13800" b="1" dirty="0">
              <a:solidFill>
                <a:schemeClr val="bg1"/>
              </a:solidFill>
              <a:latin typeface="Montserrat Black" pitchFamily="2" charset="0"/>
              <a:cs typeface="Poppins" panose="00000500000000000000" pitchFamily="2" charset="0"/>
            </a:endParaRPr>
          </a:p>
        </p:txBody>
      </p:sp>
      <p:pic>
        <p:nvPicPr>
          <p:cNvPr id="38" name="Imagen 37">
            <a:extLst>
              <a:ext uri="{FF2B5EF4-FFF2-40B4-BE49-F238E27FC236}">
                <a16:creationId xmlns:a16="http://schemas.microsoft.com/office/drawing/2014/main" id="{9E7FAF97-B09E-16D7-D015-BBD61707EA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720"/>
          <a:stretch>
            <a:fillRect/>
          </a:stretch>
        </p:blipFill>
        <p:spPr>
          <a:xfrm>
            <a:off x="1838396" y="2634465"/>
            <a:ext cx="9091827" cy="2987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3004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610</TotalTime>
  <Words>375</Words>
  <Application>Microsoft Office PowerPoint</Application>
  <PresentationFormat>Panorámica</PresentationFormat>
  <Paragraphs>93</Paragraphs>
  <Slides>12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21" baseType="lpstr">
      <vt:lpstr>Arial</vt:lpstr>
      <vt:lpstr>Calibri</vt:lpstr>
      <vt:lpstr>Calibri Light</vt:lpstr>
      <vt:lpstr>Montserrat</vt:lpstr>
      <vt:lpstr>Montserrat Black</vt:lpstr>
      <vt:lpstr>Montserrat Medium</vt:lpstr>
      <vt:lpstr>Montserrat SemiBold</vt:lpstr>
      <vt:lpstr>Poppins SemiBold</vt:lpstr>
      <vt:lpstr>Tema de Office</vt:lpstr>
      <vt:lpstr>Presentación de PowerPoint</vt:lpstr>
      <vt:lpstr>Business Model Canvas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Braulio Romero Dominguez ONIET 2024</dc:creator>
  <cp:lastModifiedBy>Braulio Romero Dominguez ONIET 2024</cp:lastModifiedBy>
  <cp:revision>10</cp:revision>
  <dcterms:created xsi:type="dcterms:W3CDTF">2026-09-28T15:15:10Z</dcterms:created>
  <dcterms:modified xsi:type="dcterms:W3CDTF">2026-10-03T23:32:38Z</dcterms:modified>
</cp:coreProperties>
</file>