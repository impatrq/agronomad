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71" r:id="rId4"/>
    <p:sldId id="277" r:id="rId5"/>
    <p:sldId id="262" r:id="rId6"/>
    <p:sldId id="263" r:id="rId7"/>
    <p:sldId id="275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709"/>
    <a:srgbClr val="0E4607"/>
    <a:srgbClr val="176F0B"/>
    <a:srgbClr val="F7F0DE"/>
    <a:srgbClr val="EC7320"/>
    <a:srgbClr val="C0C9C2"/>
    <a:srgbClr val="1F950F"/>
    <a:srgbClr val="EF85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715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A29C8-D65A-40A5-BAF2-E6935C3CACF1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BC0F4-3919-4D18-98FD-7A63C61BC76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865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BC0F4-3919-4D18-98FD-7A63C61BC76C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4597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c42eb7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e2c42eb70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2c42eb70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2c42eb70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e2c42eb705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3e2c42eb705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9A0C9-9DD0-48EF-BFA6-B69F97B0D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CE975A-21D5-F2F1-5458-77AABFF20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27C31E-86A2-0F8F-4B91-C71CA417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1B078-B453-A57F-D270-57055BB5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FA3D47-03DF-4AEA-1E98-7274BD9C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511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1A1EE-7B86-685E-9125-22A16014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CE82E4-1FC6-AF36-F788-F412974B3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0DD5F8-F347-4ED3-72D9-7D88EC21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4F97C4-9EEF-EA39-9AE9-BC6DC68D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4A2E72-13D0-1366-70F6-9D593C1A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172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FCB10-3F1C-4B48-5CB3-FFF9E7CD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C060B6-0C1B-490D-20F7-58C5D605E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79C0F7-4CC1-EC1E-8546-E7CE8513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B0AC8D-8946-7B22-653C-5B0EF76F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50107D-F975-7564-D04E-8302C124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10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3A02E-86DB-9C54-6820-6DFE8EA4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8ECD7-86E1-1703-32CF-E1548BE23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651695-3C25-26A5-3AEB-5F8785B31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94FB6E-5A1D-BC56-0106-DA35DD5F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91F5DB-18C8-7FC8-83B5-BD4A9F2B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160407-F3C9-840B-558A-F3A85101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230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A3895-ECF8-4DC5-FAA6-64A24F39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04F88-0D98-8EC2-54C3-372222048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FA51CB-81FD-9D87-9F8A-96E2536CB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1C3C71-A9FB-D6E2-5298-B71CC3A37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B0978-EAE5-8E15-4C6C-EA5850D0C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9D87B1-2450-92B0-7F6E-CA2AFDF8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D0FDA4-471D-1F77-67AB-CD5B0174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DEC9BA-2070-0E9F-2ED6-85C1AD4A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001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3B26E-99D2-BA1D-3300-2C9C07A0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F0BFD7-C64E-C7FE-2E56-EC18D3A4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BD290C-CCD7-AF81-FED4-ECFD68D2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0BABB4-292A-30C1-B766-A740374F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708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B20251-73B2-49CF-0560-8433FC22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8C6E5D-B562-C4CD-F8D8-1848CE40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1E58A9-1556-0045-DABF-50AAE4AD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2820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6A4A1-2AFA-2227-5E60-A054E6E4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ED41DA-2330-31D4-BF67-52AD4F448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53EA46-2187-19E2-83FA-1AD4AE0D7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3D7B96-F826-B951-CCA7-50A1F5EC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EE5941-56B3-596B-6023-8DEADD10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7CAED8-6E57-BC46-5D03-B700806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66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71834-84BF-104A-DC68-52C6F8D1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5F9526-A731-ED7E-2879-7DF258653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1FFB9C-ECD1-2B45-D669-7D7E47BE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437D1-9470-15CB-8DCF-226751F1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75A749-AD66-6B1D-EAB3-9482F6C8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7C4778-65F4-0AAA-1812-6305C42D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504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E44BB-C9AB-2525-3B61-70A71F32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BC845D-F86E-589D-9464-B47C249D3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1D6CD2-20A9-7D6B-26B4-CAB980EB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20173-F90A-1541-22EA-96FA366F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6F1AF-F90C-4C32-8F86-7649B02B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927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3535EB-A11F-CFBD-9AA0-0DD9F6A0F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6C9287-5251-7332-CDBB-C792DDEF5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30C0B-AD39-CB2A-D891-281D1338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FE8C7C-F0B8-3210-6CA1-8A4398FE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3FDEB6-4A68-0C5A-99AA-B2B406B0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5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EBA121-7941-FE03-852B-B791F2D9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4DA7C-15F0-250C-B7DB-E5B98CB94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616CF5-CDB5-691A-DA06-D99F54BDE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BE695-6C4D-4C17-B8A5-D6D70E2B3F1C}" type="datetimeFigureOut">
              <a:rPr lang="es-AR" smtClean="0"/>
              <a:t>21/7/2026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0861ED-63C6-31FD-2019-74CAA11EE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2F6718-7757-2873-97F1-BF0630C2B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E659-6BDB-421E-B8E5-BC1B293F5B9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355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60A5540-ABBD-9D35-5E1B-2F988E31B63D}"/>
              </a:ext>
            </a:extLst>
          </p:cNvPr>
          <p:cNvSpPr/>
          <p:nvPr/>
        </p:nvSpPr>
        <p:spPr>
          <a:xfrm>
            <a:off x="0" y="1"/>
            <a:ext cx="8638989" cy="6857999"/>
          </a:xfrm>
          <a:prstGeom prst="rect">
            <a:avLst/>
          </a:prstGeom>
          <a:solidFill>
            <a:srgbClr val="0E460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s-AR" dirty="0"/>
          </a:p>
        </p:txBody>
      </p:sp>
      <p:pic>
        <p:nvPicPr>
          <p:cNvPr id="4" name="Marcador de posición de imagen 10">
            <a:extLst>
              <a:ext uri="{FF2B5EF4-FFF2-40B4-BE49-F238E27FC236}">
                <a16:creationId xmlns:a16="http://schemas.microsoft.com/office/drawing/2014/main" id="{63F11A0D-29A8-22F3-E846-A0B7165CB0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32" t="20134" r="22326" b="746"/>
          <a:stretch>
            <a:fillRect/>
          </a:stretch>
        </p:blipFill>
        <p:spPr>
          <a:xfrm>
            <a:off x="6096000" y="0"/>
            <a:ext cx="6096001" cy="6858000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ln>
            <a:noFill/>
          </a:ln>
        </p:spPr>
      </p:pic>
      <p:sp>
        <p:nvSpPr>
          <p:cNvPr id="20" name="Título 2">
            <a:extLst>
              <a:ext uri="{FF2B5EF4-FFF2-40B4-BE49-F238E27FC236}">
                <a16:creationId xmlns:a16="http://schemas.microsoft.com/office/drawing/2014/main" id="{F80F7987-0D20-65DF-541C-DBAA0D46AD5E}"/>
              </a:ext>
            </a:extLst>
          </p:cNvPr>
          <p:cNvSpPr txBox="1">
            <a:spLocks/>
          </p:cNvSpPr>
          <p:nvPr/>
        </p:nvSpPr>
        <p:spPr>
          <a:xfrm>
            <a:off x="353083" y="453234"/>
            <a:ext cx="5388956" cy="11789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" sz="65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AgroNomad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296D25B6-6B47-6AD2-79DB-006B20DC57CA}"/>
              </a:ext>
            </a:extLst>
          </p:cNvPr>
          <p:cNvSpPr txBox="1">
            <a:spLocks/>
          </p:cNvSpPr>
          <p:nvPr/>
        </p:nvSpPr>
        <p:spPr>
          <a:xfrm>
            <a:off x="453863" y="1337998"/>
            <a:ext cx="50005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" sz="1870" dirty="0">
                <a:solidFill>
                  <a:schemeClr val="bg1"/>
                </a:solidFill>
                <a:latin typeface="Montserrat" pitchFamily="2" charset="0"/>
              </a:rPr>
              <a:t>MONITOREO INTELIGENTE DE GANADO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06E0EC51-0CB8-E046-6E7E-50E59FFE269E}"/>
              </a:ext>
            </a:extLst>
          </p:cNvPr>
          <p:cNvSpPr txBox="1">
            <a:spLocks/>
          </p:cNvSpPr>
          <p:nvPr/>
        </p:nvSpPr>
        <p:spPr>
          <a:xfrm>
            <a:off x="1202899" y="2647494"/>
            <a:ext cx="3706351" cy="218719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es-MX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D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ella Torre, Joaquín</a:t>
            </a:r>
          </a:p>
          <a:p>
            <a:pPr fontAlgn="base">
              <a:lnSpc>
                <a:spcPct val="150000"/>
              </a:lnSpc>
            </a:pP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Camiscia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Santiago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Romero Dominguez, Braulio</a:t>
            </a:r>
          </a:p>
          <a:p>
            <a:pPr fontAlgn="base">
              <a:lnSpc>
                <a:spcPct val="150000"/>
              </a:lnSpc>
            </a:pP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Villegas </a:t>
            </a:r>
            <a:r>
              <a:rPr lang="es-AR" sz="1800" dirty="0" err="1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Gonzalez</a:t>
            </a:r>
            <a:r>
              <a:rPr lang="es-AR" sz="1800" dirty="0">
                <a:solidFill>
                  <a:schemeClr val="bg1"/>
                </a:solidFill>
                <a:latin typeface="Montserrat" pitchFamily="2" charset="0"/>
                <a:cs typeface="Poppins" panose="00000500000000000000" pitchFamily="2" charset="0"/>
              </a:rPr>
              <a:t>, Alejandro</a:t>
            </a:r>
          </a:p>
        </p:txBody>
      </p:sp>
      <p:sp>
        <p:nvSpPr>
          <p:cNvPr id="23" name="Marcador de texto 4">
            <a:extLst>
              <a:ext uri="{FF2B5EF4-FFF2-40B4-BE49-F238E27FC236}">
                <a16:creationId xmlns:a16="http://schemas.microsoft.com/office/drawing/2014/main" id="{A7407838-2E04-3A03-AAED-0124B616962B}"/>
              </a:ext>
            </a:extLst>
          </p:cNvPr>
          <p:cNvSpPr txBox="1">
            <a:spLocks/>
          </p:cNvSpPr>
          <p:nvPr/>
        </p:nvSpPr>
        <p:spPr>
          <a:xfrm>
            <a:off x="530063" y="1852338"/>
            <a:ext cx="484818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cap="all" spc="3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" spc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F699B447-5C95-D84D-DE02-1DBED7B7EC65}"/>
              </a:ext>
            </a:extLst>
          </p:cNvPr>
          <p:cNvSpPr txBox="1">
            <a:spLocks/>
          </p:cNvSpPr>
          <p:nvPr/>
        </p:nvSpPr>
        <p:spPr>
          <a:xfrm>
            <a:off x="837566" y="2154184"/>
            <a:ext cx="4250786" cy="50986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50000"/>
              </a:lnSpc>
              <a:buNone/>
            </a:pPr>
            <a:r>
              <a:rPr lang="es-MX" sz="2000" b="1" dirty="0">
                <a:solidFill>
                  <a:schemeClr val="bg1"/>
                </a:solidFill>
                <a:latin typeface="Montserrat SemiBold" pitchFamily="2" charset="0"/>
                <a:cs typeface="Poppins" panose="00000500000000000000" pitchFamily="2" charset="0"/>
              </a:rPr>
              <a:t>7mo 2da AVC Comisión A</a:t>
            </a:r>
            <a:endParaRPr lang="es-AR" sz="2000" b="1" dirty="0">
              <a:solidFill>
                <a:schemeClr val="bg1"/>
              </a:solidFill>
              <a:latin typeface="Montserrat SemiBold" pitchFamily="2" charset="0"/>
              <a:cs typeface="Poppins" panose="00000500000000000000" pitchFamily="2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2ABF35C-4AC4-CDCC-A51E-838799C1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17" y="5015434"/>
            <a:ext cx="1519084" cy="15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75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F475B-26A5-7DFC-783E-1C41B7A36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F0FD217B-8B49-B99E-75C8-0CAA342152B7}"/>
              </a:ext>
            </a:extLst>
          </p:cNvPr>
          <p:cNvSpPr txBox="1">
            <a:spLocks/>
          </p:cNvSpPr>
          <p:nvPr/>
        </p:nvSpPr>
        <p:spPr>
          <a:xfrm>
            <a:off x="318202" y="187630"/>
            <a:ext cx="1591878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5D9F2D8C-F153-A343-94CD-7CCA76BD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473" y="237364"/>
            <a:ext cx="8057054" cy="932100"/>
          </a:xfrm>
          <a:ln>
            <a:noFill/>
          </a:ln>
        </p:spPr>
        <p:txBody>
          <a:bodyPr rtlCol="0" anchor="b">
            <a:normAutofit fontScale="90000"/>
          </a:bodyPr>
          <a:lstStyle/>
          <a:p>
            <a:pPr rtl="0"/>
            <a:r>
              <a:rPr lang="es" sz="5000" b="1" dirty="0">
                <a:solidFill>
                  <a:srgbClr val="196D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Componentes del Proyecto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A825920-FB82-93BA-33AE-69FECF7B025B}"/>
              </a:ext>
            </a:extLst>
          </p:cNvPr>
          <p:cNvGrpSpPr/>
          <p:nvPr/>
        </p:nvGrpSpPr>
        <p:grpSpPr>
          <a:xfrm>
            <a:off x="1466970" y="4078290"/>
            <a:ext cx="9689291" cy="1028229"/>
            <a:chOff x="1584960" y="4162037"/>
            <a:chExt cx="9689291" cy="102822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5B5FFA4A-CFF9-3BB4-62E0-7395945ADD2D}"/>
                </a:ext>
              </a:extLst>
            </p:cNvPr>
            <p:cNvSpPr/>
            <p:nvPr/>
          </p:nvSpPr>
          <p:spPr>
            <a:xfrm>
              <a:off x="1584960" y="4162037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277C49E5-10C3-4124-2F7C-163E168FB41E}"/>
                </a:ext>
              </a:extLst>
            </p:cNvPr>
            <p:cNvSpPr/>
            <p:nvPr/>
          </p:nvSpPr>
          <p:spPr>
            <a:xfrm>
              <a:off x="3092267" y="4285352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AGROBOT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Estación fija de Recepción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A9B0A4A7-E81E-51F7-C175-178824719EEF}"/>
                </a:ext>
              </a:extLst>
            </p:cNvPr>
            <p:cNvSpPr/>
            <p:nvPr/>
          </p:nvSpPr>
          <p:spPr>
            <a:xfrm>
              <a:off x="1911330" y="4277360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63B30235-8090-C650-3E86-076B5ED71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499"/>
            <a:stretch>
              <a:fillRect/>
            </a:stretch>
          </p:blipFill>
          <p:spPr>
            <a:xfrm>
              <a:off x="1849841" y="4432991"/>
              <a:ext cx="862392" cy="444138"/>
            </a:xfrm>
            <a:prstGeom prst="rect">
              <a:avLst/>
            </a:prstGeom>
          </p:spPr>
        </p:pic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38AE33C8-1B82-51BD-EAFE-0D8088E17BCE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9" y="4380056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DD798B91-2741-C479-C15F-86EDEF2F5909}"/>
              </a:ext>
            </a:extLst>
          </p:cNvPr>
          <p:cNvGrpSpPr/>
          <p:nvPr/>
        </p:nvGrpSpPr>
        <p:grpSpPr>
          <a:xfrm>
            <a:off x="1466971" y="2689732"/>
            <a:ext cx="9689291" cy="1028229"/>
            <a:chOff x="1584960" y="2855387"/>
            <a:chExt cx="9689291" cy="1028229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4619D659-99E5-E5AA-7A16-2CAF4568ED41}"/>
                </a:ext>
              </a:extLst>
            </p:cNvPr>
            <p:cNvSpPr/>
            <p:nvPr/>
          </p:nvSpPr>
          <p:spPr>
            <a:xfrm>
              <a:off x="1584960" y="2855387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EC5B6C20-01D4-58B2-7055-B0B212597C0C}"/>
                </a:ext>
              </a:extLst>
            </p:cNvPr>
            <p:cNvSpPr/>
            <p:nvPr/>
          </p:nvSpPr>
          <p:spPr>
            <a:xfrm>
              <a:off x="3092267" y="2978702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AGRONECK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C</a:t>
              </a:r>
              <a:r>
                <a:rPr lang="es-AR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ollares Smart en Campo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74D325D-791D-EDB8-1539-15B680F122A3}"/>
                </a:ext>
              </a:extLst>
            </p:cNvPr>
            <p:cNvSpPr/>
            <p:nvPr/>
          </p:nvSpPr>
          <p:spPr>
            <a:xfrm>
              <a:off x="1907538" y="2970710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6A41683-B5FA-615A-73AA-227446E3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976" r="22501"/>
            <a:stretch>
              <a:fillRect/>
            </a:stretch>
          </p:blipFill>
          <p:spPr>
            <a:xfrm>
              <a:off x="1907537" y="3126404"/>
              <a:ext cx="573036" cy="591714"/>
            </a:xfrm>
            <a:prstGeom prst="rect">
              <a:avLst/>
            </a:prstGeom>
          </p:spPr>
        </p:pic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CC3054-4533-BB1A-2D08-70DA92C176CE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8" y="3126404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86CD9B10-7F98-C42B-99A6-6E9FB20CA702}"/>
              </a:ext>
            </a:extLst>
          </p:cNvPr>
          <p:cNvGrpSpPr/>
          <p:nvPr/>
        </p:nvGrpSpPr>
        <p:grpSpPr>
          <a:xfrm>
            <a:off x="1466972" y="5466849"/>
            <a:ext cx="9689291" cy="1028229"/>
            <a:chOff x="1584960" y="5466850"/>
            <a:chExt cx="9689291" cy="102822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F404976-B0C9-EC82-B8C5-9343E9DA082C}"/>
                </a:ext>
              </a:extLst>
            </p:cNvPr>
            <p:cNvSpPr/>
            <p:nvPr/>
          </p:nvSpPr>
          <p:spPr>
            <a:xfrm>
              <a:off x="1584960" y="5466850"/>
              <a:ext cx="9689291" cy="1028229"/>
            </a:xfrm>
            <a:prstGeom prst="roundRect">
              <a:avLst/>
            </a:prstGeom>
            <a:solidFill>
              <a:srgbClr val="0E4607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F0468A0-34B7-28AC-A20F-CE67F43CEC32}"/>
                </a:ext>
              </a:extLst>
            </p:cNvPr>
            <p:cNvSpPr/>
            <p:nvPr/>
          </p:nvSpPr>
          <p:spPr>
            <a:xfrm>
              <a:off x="3092267" y="5590165"/>
              <a:ext cx="7906898" cy="739415"/>
            </a:xfrm>
            <a:prstGeom prst="roundRect">
              <a:avLst/>
            </a:prstGeom>
            <a:solidFill>
              <a:srgbClr val="12570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s-MX" sz="2400" dirty="0">
                  <a:solidFill>
                    <a:schemeClr val="bg1"/>
                  </a:solidFill>
                  <a:latin typeface="Montserrat Black" pitchFamily="2" charset="0"/>
                  <a:cs typeface="Poppins" panose="00000500000000000000" pitchFamily="2" charset="0"/>
                </a:rPr>
                <a:t>AGROSERVER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— </a:t>
              </a:r>
              <a:r>
                <a:rPr lang="es-MX" sz="2400" dirty="0" err="1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Dashboard</a:t>
              </a:r>
              <a:r>
                <a:rPr lang="es-MX" sz="2400" dirty="0">
                  <a:solidFill>
                    <a:schemeClr val="bg1"/>
                  </a:solidFill>
                  <a:latin typeface="Montserrat Medium" pitchFamily="2" charset="0"/>
                  <a:cs typeface="Poppins" panose="00000500000000000000" pitchFamily="2" charset="0"/>
                </a:rPr>
                <a:t> de Usuario</a:t>
              </a:r>
              <a:endParaRPr lang="es-AR" sz="24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6F256317-952A-E177-6BF4-3E6DB6C48C39}"/>
                </a:ext>
              </a:extLst>
            </p:cNvPr>
            <p:cNvSpPr/>
            <p:nvPr/>
          </p:nvSpPr>
          <p:spPr>
            <a:xfrm>
              <a:off x="1907538" y="5590165"/>
              <a:ext cx="739415" cy="739415"/>
            </a:xfrm>
            <a:prstGeom prst="ellipse">
              <a:avLst/>
            </a:prstGeom>
            <a:solidFill>
              <a:srgbClr val="12570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>
                <a:latin typeface="Montserrat SemiBold" pitchFamily="2" charset="0"/>
              </a:endParaRP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03F3AB46-93F7-0E00-68BA-0524463B3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2269" y="5660687"/>
              <a:ext cx="582386" cy="582386"/>
            </a:xfrm>
            <a:prstGeom prst="rect">
              <a:avLst/>
            </a:prstGeom>
          </p:spPr>
        </p:pic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EBCA336-5A29-E0D0-8031-86261C43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29" y="5746000"/>
              <a:ext cx="0" cy="497073"/>
            </a:xfrm>
            <a:prstGeom prst="line">
              <a:avLst/>
            </a:prstGeom>
            <a:ln w="28575" cap="rnd">
              <a:solidFill>
                <a:srgbClr val="EC732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Google Shape;110;p15">
            <a:extLst>
              <a:ext uri="{FF2B5EF4-FFF2-40B4-BE49-F238E27FC236}">
                <a16:creationId xmlns:a16="http://schemas.microsoft.com/office/drawing/2014/main" id="{4E0E25B3-A8CE-5221-F6D7-D9929D25968A}"/>
              </a:ext>
            </a:extLst>
          </p:cNvPr>
          <p:cNvSpPr/>
          <p:nvPr/>
        </p:nvSpPr>
        <p:spPr>
          <a:xfrm>
            <a:off x="2202750" y="1520134"/>
            <a:ext cx="7786500" cy="782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1F950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rgbClr val="1F950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Solución tecnológica en el sector agropecuario</a:t>
            </a:r>
            <a:endParaRPr sz="2400" b="0" i="0" u="none" strike="noStrike" cap="none">
              <a:solidFill>
                <a:srgbClr val="1F950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1832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D5CB4-A317-049E-74A7-4B827E9A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4">
            <a:extLst>
              <a:ext uri="{FF2B5EF4-FFF2-40B4-BE49-F238E27FC236}">
                <a16:creationId xmlns:a16="http://schemas.microsoft.com/office/drawing/2014/main" id="{EA3410DE-DB95-889A-1E4F-CB2C10DD35E8}"/>
              </a:ext>
            </a:extLst>
          </p:cNvPr>
          <p:cNvSpPr txBox="1">
            <a:spLocks/>
          </p:cNvSpPr>
          <p:nvPr/>
        </p:nvSpPr>
        <p:spPr>
          <a:xfrm>
            <a:off x="318202" y="187630"/>
            <a:ext cx="2321186" cy="1031569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5" name="Título 2">
            <a:extLst>
              <a:ext uri="{FF2B5EF4-FFF2-40B4-BE49-F238E27FC236}">
                <a16:creationId xmlns:a16="http://schemas.microsoft.com/office/drawing/2014/main" id="{672F3DE0-914D-77B9-D1F5-848509F9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688" y="237364"/>
            <a:ext cx="8057054" cy="932100"/>
          </a:xfrm>
          <a:ln>
            <a:noFill/>
          </a:ln>
        </p:spPr>
        <p:txBody>
          <a:bodyPr rtlCol="0" anchor="b">
            <a:normAutofit/>
          </a:bodyPr>
          <a:lstStyle/>
          <a:p>
            <a:pPr algn="ctr" rtl="0"/>
            <a:r>
              <a:rPr lang="es" sz="5000" b="1" dirty="0">
                <a:solidFill>
                  <a:srgbClr val="196D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AgroNeck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7DAE651-2D34-8954-4D35-34FE04C799C8}"/>
              </a:ext>
            </a:extLst>
          </p:cNvPr>
          <p:cNvSpPr/>
          <p:nvPr/>
        </p:nvSpPr>
        <p:spPr>
          <a:xfrm>
            <a:off x="7492181" y="1527403"/>
            <a:ext cx="4381618" cy="4693938"/>
          </a:xfrm>
          <a:prstGeom prst="roundRect">
            <a:avLst>
              <a:gd name="adj" fmla="val 6647"/>
            </a:avLst>
          </a:prstGeom>
          <a:solidFill>
            <a:srgbClr val="125709"/>
          </a:solidFill>
          <a:ln w="38100">
            <a:solidFill>
              <a:srgbClr val="1257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949FC0D-D913-FB7C-C654-FCC2537F9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7352868" y="2216076"/>
            <a:ext cx="4974888" cy="3316591"/>
          </a:xfrm>
          <a:prstGeom prst="rect">
            <a:avLst/>
          </a:prstGeom>
        </p:spPr>
      </p:pic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39980D7-AF9E-B05B-CDBB-91C3BAD67114}"/>
              </a:ext>
            </a:extLst>
          </p:cNvPr>
          <p:cNvSpPr/>
          <p:nvPr/>
        </p:nvSpPr>
        <p:spPr>
          <a:xfrm>
            <a:off x="318202" y="1511141"/>
            <a:ext cx="6695547" cy="732870"/>
          </a:xfrm>
          <a:prstGeom prst="roundRect">
            <a:avLst/>
          </a:prstGeom>
          <a:solidFill>
            <a:srgbClr val="0E4607"/>
          </a:solidFill>
          <a:ln w="12700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400" b="1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Prestaciones integradas en el </a:t>
            </a:r>
            <a:r>
              <a:rPr lang="es-MX" sz="2400" b="1" dirty="0" err="1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AgroNeck</a:t>
            </a:r>
            <a:endParaRPr lang="es-AR" sz="2400" b="1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68BCE509-4875-0744-1161-C089D6E5B836}"/>
              </a:ext>
            </a:extLst>
          </p:cNvPr>
          <p:cNvSpPr/>
          <p:nvPr/>
        </p:nvSpPr>
        <p:spPr>
          <a:xfrm>
            <a:off x="702080" y="3384315"/>
            <a:ext cx="6005782" cy="60918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Ubicación GPS y registro de actividad diaria.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CF074773-659D-A814-A311-F65686D2FEDA}"/>
              </a:ext>
            </a:extLst>
          </p:cNvPr>
          <p:cNvSpPr/>
          <p:nvPr/>
        </p:nvSpPr>
        <p:spPr>
          <a:xfrm>
            <a:off x="702079" y="5612161"/>
            <a:ext cx="6005783" cy="60918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Autonomía energética solar.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AA86FC3-F0AB-9BCB-B723-712AE18DB769}"/>
              </a:ext>
            </a:extLst>
          </p:cNvPr>
          <p:cNvSpPr/>
          <p:nvPr/>
        </p:nvSpPr>
        <p:spPr>
          <a:xfrm>
            <a:off x="702080" y="4130213"/>
            <a:ext cx="6005782" cy="60918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Sistema de pulso con filtrado.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E195915-82E0-A20F-8579-FAEC84BD3B0C}"/>
              </a:ext>
            </a:extLst>
          </p:cNvPr>
          <p:cNvSpPr/>
          <p:nvPr/>
        </p:nvSpPr>
        <p:spPr>
          <a:xfrm>
            <a:off x="702079" y="4871187"/>
            <a:ext cx="6005783" cy="609180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Medición de temperatura interna estimada.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B5C0B7E-2EDD-B132-12CB-CA443EEEBA45}"/>
              </a:ext>
            </a:extLst>
          </p:cNvPr>
          <p:cNvSpPr/>
          <p:nvPr/>
        </p:nvSpPr>
        <p:spPr>
          <a:xfrm>
            <a:off x="702079" y="2371245"/>
            <a:ext cx="6005783" cy="876352"/>
          </a:xfrm>
          <a:prstGeom prst="roundRect">
            <a:avLst/>
          </a:prstGeom>
          <a:solidFill>
            <a:srgbClr val="125709"/>
          </a:solidFill>
          <a:ln w="28575" cap="flat">
            <a:solidFill>
              <a:srgbClr val="0E4607"/>
            </a:solidFill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Asignación de perfil haciendo a cada </a:t>
            </a:r>
            <a:r>
              <a:rPr lang="es-MX" sz="2000" dirty="0" err="1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AgroNeck</a:t>
            </a:r>
            <a:r>
              <a:rPr lang="es-MX" sz="2000" dirty="0">
                <a:solidFill>
                  <a:schemeClr val="bg1"/>
                </a:solidFill>
                <a:latin typeface="Montserrat Medium" pitchFamily="2" charset="0"/>
                <a:cs typeface="Poppins" panose="00000500000000000000" pitchFamily="2" charset="0"/>
              </a:rPr>
              <a:t> un collar único por cada animal.</a:t>
            </a:r>
            <a:endParaRPr lang="es-AR" sz="2000" dirty="0">
              <a:solidFill>
                <a:schemeClr val="bg1"/>
              </a:solidFill>
              <a:latin typeface="Montserrat Medium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71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318200" y="187625"/>
            <a:ext cx="26394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dirty="0"/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2351688" y="237364"/>
            <a:ext cx="805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AgroNeck</a:t>
            </a:r>
            <a:endParaRPr dirty="0"/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1103975" y="1365575"/>
            <a:ext cx="4474850" cy="5931900"/>
          </a:xfrm>
          <a:prstGeom prst="rect">
            <a:avLst/>
          </a:prstGeom>
          <a:noFill/>
          <a:ln w="38100" cap="flat" cmpd="sng">
            <a:solidFill>
              <a:srgbClr val="0E460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8"/>
          <p:cNvSpPr/>
          <p:nvPr/>
        </p:nvSpPr>
        <p:spPr>
          <a:xfrm>
            <a:off x="1231500" y="1328750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Diagrama de </a:t>
            </a:r>
            <a:r>
              <a:rPr lang="es-MX" sz="2400" b="1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bloques</a:t>
            </a:r>
            <a:endParaRPr sz="2400" b="0" i="0" u="none" strike="noStrike" cap="none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625289" y="2041014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Microcontrolador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ESP32 </a:t>
            </a:r>
            <a:endParaRPr lang="es-MX"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625289" y="2712525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Módulo GPS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NEO6MV2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625289" y="3384036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Módulo LoRa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XL1278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625289" y="5394084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Sensado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Temp. </a:t>
            </a: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MLX90614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625289" y="4055547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Acelerómetro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MPU6050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625289" y="4722573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Medición de PPM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Sensor Piezoeléctrico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045500" y="1328750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Módulos</a:t>
            </a:r>
            <a:endParaRPr sz="2400" b="0" i="0" u="none" strike="noStrike" cap="none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Google Shape;164;p18">
            <a:extLst>
              <a:ext uri="{FF2B5EF4-FFF2-40B4-BE49-F238E27FC236}">
                <a16:creationId xmlns:a16="http://schemas.microsoft.com/office/drawing/2014/main" id="{89F1735E-9DA2-5D0C-03C7-D54B829D087F}"/>
              </a:ext>
            </a:extLst>
          </p:cNvPr>
          <p:cNvSpPr/>
          <p:nvPr/>
        </p:nvSpPr>
        <p:spPr>
          <a:xfrm>
            <a:off x="6625289" y="6061811"/>
            <a:ext cx="5378400" cy="507139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1600" b="1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Sensado</a:t>
            </a:r>
            <a:r>
              <a:rPr lang="es-MX" sz="1600" b="1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Temp. Ext. </a:t>
            </a:r>
            <a:r>
              <a:rPr lang="es-MX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LM35 </a:t>
            </a:r>
            <a:endParaRPr sz="16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318202" y="187630"/>
            <a:ext cx="1549928" cy="103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dirty="0"/>
          </a:p>
        </p:txBody>
      </p:sp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2482316" y="233569"/>
            <a:ext cx="8057054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Arial Unicode MS" panose="020B0604020202020204" pitchFamily="34" charset="-128"/>
                <a:cs typeface="Poppins"/>
                <a:sym typeface="Poppins"/>
              </a:rPr>
              <a:t>AgroBot</a:t>
            </a:r>
            <a:r>
              <a:rPr lang="es-MX" sz="5000" b="1" dirty="0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dirty="0"/>
          </a:p>
        </p:txBody>
      </p:sp>
      <p:sp>
        <p:nvSpPr>
          <p:cNvPr id="175" name="Google Shape;175;p19"/>
          <p:cNvSpPr/>
          <p:nvPr/>
        </p:nvSpPr>
        <p:spPr>
          <a:xfrm>
            <a:off x="318203" y="1904882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es una estación de recepción de datos fija 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encargada de recibir y procesar los datos de los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AgroNecks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18202" y="6104605"/>
            <a:ext cx="11555700" cy="616800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</a:t>
            </a:r>
            <a:r>
              <a:rPr lang="es-MX" sz="22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AgroBots</a:t>
            </a: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son los centros de control del ecosistema </a:t>
            </a:r>
            <a:r>
              <a:rPr lang="es-MX" sz="22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AgroNomad</a:t>
            </a:r>
            <a:r>
              <a:rPr lang="es-MX" sz="2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2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6922911" y="1113067"/>
            <a:ext cx="4030077" cy="5700250"/>
          </a:xfrm>
          <a:prstGeom prst="rect">
            <a:avLst/>
          </a:prstGeom>
          <a:noFill/>
          <a:ln w="38100" cap="flat" cmpd="sng">
            <a:solidFill>
              <a:srgbClr val="0E460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75;p19">
            <a:extLst>
              <a:ext uri="{FF2B5EF4-FFF2-40B4-BE49-F238E27FC236}">
                <a16:creationId xmlns:a16="http://schemas.microsoft.com/office/drawing/2014/main" id="{0743BB13-3CA5-0775-C829-BF1484F7FEC7}"/>
              </a:ext>
            </a:extLst>
          </p:cNvPr>
          <p:cNvSpPr/>
          <p:nvPr/>
        </p:nvSpPr>
        <p:spPr>
          <a:xfrm>
            <a:off x="318203" y="3286729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generará una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dashboard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llamada </a:t>
            </a:r>
            <a:r>
              <a:rPr lang="es-MX" sz="2000" b="0" i="0" u="none" strike="noStrike" cap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AgroServer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que será la interfaz del usuario.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175;p19">
            <a:extLst>
              <a:ext uri="{FF2B5EF4-FFF2-40B4-BE49-F238E27FC236}">
                <a16:creationId xmlns:a16="http://schemas.microsoft.com/office/drawing/2014/main" id="{2A1B19D5-F117-9603-A6DB-34F6841E5E96}"/>
              </a:ext>
            </a:extLst>
          </p:cNvPr>
          <p:cNvSpPr/>
          <p:nvPr/>
        </p:nvSpPr>
        <p:spPr>
          <a:xfrm>
            <a:off x="318203" y="4728525"/>
            <a:ext cx="5623800" cy="1283624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AgroServer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también podrá ser abierto en dispositivos conectados a la red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-Fi que genera el </a:t>
            </a:r>
            <a:r>
              <a:rPr lang="es-MX" sz="20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AgroBot</a:t>
            </a: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Google Shape;160;p18">
            <a:extLst>
              <a:ext uri="{FF2B5EF4-FFF2-40B4-BE49-F238E27FC236}">
                <a16:creationId xmlns:a16="http://schemas.microsoft.com/office/drawing/2014/main" id="{96E00F3B-4435-8093-993B-F1FFCB18043D}"/>
              </a:ext>
            </a:extLst>
          </p:cNvPr>
          <p:cNvSpPr/>
          <p:nvPr/>
        </p:nvSpPr>
        <p:spPr>
          <a:xfrm>
            <a:off x="7016003" y="1219199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u="none" strike="noStrike" cap="none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Diagrama de </a:t>
            </a:r>
            <a:r>
              <a:rPr lang="es-MX" sz="2400" b="1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bloques</a:t>
            </a:r>
            <a:endParaRPr sz="2400" b="0" i="0" u="none" strike="noStrike" cap="none" dirty="0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167;p18">
            <a:extLst>
              <a:ext uri="{FF2B5EF4-FFF2-40B4-BE49-F238E27FC236}">
                <a16:creationId xmlns:a16="http://schemas.microsoft.com/office/drawing/2014/main" id="{261ABB58-5A4F-F4E9-F2B2-BBBBA29208EB}"/>
              </a:ext>
            </a:extLst>
          </p:cNvPr>
          <p:cNvSpPr/>
          <p:nvPr/>
        </p:nvSpPr>
        <p:spPr>
          <a:xfrm>
            <a:off x="1093166" y="1219859"/>
            <a:ext cx="4219800" cy="586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E460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>
                <a:solidFill>
                  <a:srgbClr val="12570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</a:t>
            </a:r>
            <a:endParaRPr sz="2400" b="0" i="0" u="none" strike="noStrike" cap="none" dirty="0">
              <a:solidFill>
                <a:srgbClr val="12570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318200" y="187630"/>
            <a:ext cx="1746573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</a:pPr>
            <a:r>
              <a:rPr lang="es-MX" sz="8000" b="0" i="0" u="none" strike="noStrike" cap="none" dirty="0">
                <a:solidFill>
                  <a:srgbClr val="26262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 dirty="0"/>
          </a:p>
        </p:txBody>
      </p:sp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2482316" y="233569"/>
            <a:ext cx="8057100" cy="9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D29"/>
              </a:buClr>
              <a:buSzPts val="5000"/>
              <a:buFont typeface="Poppins"/>
              <a:buNone/>
            </a:pPr>
            <a:r>
              <a:rPr lang="es-MX" sz="5000" b="1" dirty="0" err="1">
                <a:solidFill>
                  <a:srgbClr val="196D29"/>
                </a:solidFill>
                <a:latin typeface="Poppins"/>
                <a:ea typeface="Poppins"/>
                <a:cs typeface="Poppins"/>
                <a:sym typeface="Poppins"/>
              </a:rPr>
              <a:t>AgroServer</a:t>
            </a:r>
            <a:endParaRPr dirty="0"/>
          </a:p>
        </p:txBody>
      </p:sp>
      <p:sp>
        <p:nvSpPr>
          <p:cNvPr id="186" name="Google Shape;186;p20"/>
          <p:cNvSpPr/>
          <p:nvPr/>
        </p:nvSpPr>
        <p:spPr>
          <a:xfrm>
            <a:off x="6250199" y="1550861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Mapeo del área de trabajo establecida y posición de los animales.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250199" y="2613537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20000"/>
              </a:lnSpc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Asignación de perfil a cada collar con información fundamental del animal.</a:t>
            </a:r>
          </a:p>
        </p:txBody>
      </p:sp>
      <p:sp>
        <p:nvSpPr>
          <p:cNvPr id="188" name="Google Shape;188;p20"/>
          <p:cNvSpPr/>
          <p:nvPr/>
        </p:nvSpPr>
        <p:spPr>
          <a:xfrm>
            <a:off x="6250199" y="3676214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Observación de distancia recorrida por el</a:t>
            </a:r>
            <a:r>
              <a:rPr lang="es-MX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animal durante el día. 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18200" y="5899891"/>
            <a:ext cx="11555799" cy="616800"/>
          </a:xfrm>
          <a:prstGeom prst="roundRect">
            <a:avLst>
              <a:gd name="adj" fmla="val 11749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Tecnologías web para el desarrollo: React.js, Node.js y Express.js. </a:t>
            </a:r>
            <a:endParaRPr sz="22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0" name="Google Shape;190;p20" title="Agronomad_MAP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201" y="1637980"/>
            <a:ext cx="5699242" cy="4022354"/>
          </a:xfrm>
          <a:prstGeom prst="rect">
            <a:avLst/>
          </a:prstGeom>
          <a:noFill/>
          <a:ln w="57150">
            <a:solidFill>
              <a:srgbClr val="0E4607"/>
            </a:solidFill>
          </a:ln>
        </p:spPr>
      </p:pic>
      <p:sp>
        <p:nvSpPr>
          <p:cNvPr id="3" name="Google Shape;188;p20">
            <a:extLst>
              <a:ext uri="{FF2B5EF4-FFF2-40B4-BE49-F238E27FC236}">
                <a16:creationId xmlns:a16="http://schemas.microsoft.com/office/drawing/2014/main" id="{9FB66957-72B7-6AB4-DEB3-A39B74777EBB}"/>
              </a:ext>
            </a:extLst>
          </p:cNvPr>
          <p:cNvSpPr/>
          <p:nvPr/>
        </p:nvSpPr>
        <p:spPr>
          <a:xfrm>
            <a:off x="6250199" y="4738891"/>
            <a:ext cx="5623800" cy="972000"/>
          </a:xfrm>
          <a:prstGeom prst="roundRect">
            <a:avLst>
              <a:gd name="adj" fmla="val 16667"/>
            </a:avLst>
          </a:prstGeom>
          <a:solidFill>
            <a:srgbClr val="0E46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Alertas ante animales fuera del área de trabajo o con parámetros fuera de rango.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460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B79C6-5A44-D103-0A27-27FF8F23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792E14C-0E92-4FF0-3B07-2F0C06ED95FE}"/>
              </a:ext>
            </a:extLst>
          </p:cNvPr>
          <p:cNvGrpSpPr/>
          <p:nvPr/>
        </p:nvGrpSpPr>
        <p:grpSpPr>
          <a:xfrm>
            <a:off x="875881" y="974669"/>
            <a:ext cx="10440238" cy="2559502"/>
            <a:chOff x="491505" y="974669"/>
            <a:chExt cx="10440238" cy="2559502"/>
          </a:xfrm>
        </p:grpSpPr>
        <p:sp>
          <p:nvSpPr>
            <p:cNvPr id="20" name="Título 2">
              <a:extLst>
                <a:ext uri="{FF2B5EF4-FFF2-40B4-BE49-F238E27FC236}">
                  <a16:creationId xmlns:a16="http://schemas.microsoft.com/office/drawing/2014/main" id="{49416207-C057-52D1-23A0-948E71390DB7}"/>
                </a:ext>
              </a:extLst>
            </p:cNvPr>
            <p:cNvSpPr txBox="1">
              <a:spLocks/>
            </p:cNvSpPr>
            <p:nvPr/>
          </p:nvSpPr>
          <p:spPr>
            <a:xfrm>
              <a:off x="491505" y="1510786"/>
              <a:ext cx="7952676" cy="148726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" sz="88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AgroNomad</a:t>
              </a:r>
            </a:p>
          </p:txBody>
        </p:sp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DAD03908-7122-7654-30E6-7C89E39ED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2241" y="974669"/>
              <a:ext cx="2559502" cy="2559502"/>
            </a:xfrm>
            <a:prstGeom prst="rect">
              <a:avLst/>
            </a:prstGeom>
          </p:spPr>
        </p:pic>
      </p:grpSp>
      <p:sp>
        <p:nvSpPr>
          <p:cNvPr id="2" name="Título 2">
            <a:extLst>
              <a:ext uri="{FF2B5EF4-FFF2-40B4-BE49-F238E27FC236}">
                <a16:creationId xmlns:a16="http://schemas.microsoft.com/office/drawing/2014/main" id="{30030776-55BA-C6FB-E747-B3C5BA7A359B}"/>
              </a:ext>
            </a:extLst>
          </p:cNvPr>
          <p:cNvSpPr txBox="1">
            <a:spLocks/>
          </p:cNvSpPr>
          <p:nvPr/>
        </p:nvSpPr>
        <p:spPr>
          <a:xfrm>
            <a:off x="604576" y="2998055"/>
            <a:ext cx="7952676" cy="14872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" sz="8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A260D19-97BA-DECC-A8D4-2D0CCB51A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2961" b="35353"/>
          <a:stretch>
            <a:fillRect/>
          </a:stretch>
        </p:blipFill>
        <p:spPr>
          <a:xfrm>
            <a:off x="6096000" y="3676271"/>
            <a:ext cx="4509975" cy="173877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3B3E19D-E29C-815A-4835-733B433F4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297" b="57038"/>
          <a:stretch>
            <a:fillRect/>
          </a:stretch>
        </p:blipFill>
        <p:spPr>
          <a:xfrm>
            <a:off x="730594" y="3608439"/>
            <a:ext cx="4455443" cy="187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0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285</Words>
  <Application>Microsoft Office PowerPoint</Application>
  <PresentationFormat>Panorámica</PresentationFormat>
  <Paragraphs>52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Montserrat Black</vt:lpstr>
      <vt:lpstr>Montserrat Medium</vt:lpstr>
      <vt:lpstr>Montserrat SemiBold</vt:lpstr>
      <vt:lpstr>Poppins</vt:lpstr>
      <vt:lpstr>Tema de Office</vt:lpstr>
      <vt:lpstr>Presentación de PowerPoint</vt:lpstr>
      <vt:lpstr>Componentes del Proyecto</vt:lpstr>
      <vt:lpstr>AgroNeck</vt:lpstr>
      <vt:lpstr>AgroNeck</vt:lpstr>
      <vt:lpstr>AgroBot </vt:lpstr>
      <vt:lpstr>AgroServer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Braulio Romero Dominguez ONIET 2024</dc:creator>
  <cp:lastModifiedBy>Braulio Romero Dominguez ONIET 2024</cp:lastModifiedBy>
  <cp:revision>15</cp:revision>
  <cp:lastPrinted>2026-05-18T15:45:54Z</cp:lastPrinted>
  <dcterms:created xsi:type="dcterms:W3CDTF">2026-04-28T19:32:50Z</dcterms:created>
  <dcterms:modified xsi:type="dcterms:W3CDTF">2026-07-21T17:25:59Z</dcterms:modified>
</cp:coreProperties>
</file>